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9144000"/>
  <p:embeddedFontLst>
    <p:embeddedFont>
      <p:font typeface="Play"/>
      <p:regular r:id="rId52"/>
      <p:bold r:id="rId53"/>
    </p:embeddedFont>
    <p:embeddedFont>
      <p:font typeface="Montserrat"/>
      <p:bold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iHeWkfqn1NahEGnOki/9HeIa/b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Play-bold.fntdata"/><Relationship Id="rId52" Type="http://schemas.openxmlformats.org/officeDocument/2006/relationships/font" Target="fonts/Play-regular.fntdata"/><Relationship Id="rId11" Type="http://schemas.openxmlformats.org/officeDocument/2006/relationships/slide" Target="slides/slide7.xml"/><Relationship Id="rId55" Type="http://schemas.openxmlformats.org/officeDocument/2006/relationships/font" Target="fonts/Montserrat-boldItalic.fntdata"/><Relationship Id="rId10" Type="http://schemas.openxmlformats.org/officeDocument/2006/relationships/slide" Target="slides/slide6.xml"/><Relationship Id="rId54" Type="http://schemas.openxmlformats.org/officeDocument/2006/relationships/font" Target="fonts/Montserrat-bold.fntdata"/><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2b97712c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f2b97712c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2b97712c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f2b97712c9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2b97712c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f2b97712c9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2b97712c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f2b97712c9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2b97712c9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f2b97712c9_1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2b97712c9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f2b97712c9_1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2b97712c9_1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f2b97712c9_1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2b97712c9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f2b97712c9_1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2b97712c9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f2b97712c9_1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2b97712c9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f2b97712c9_1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100ad7d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f100ad7d2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100ad7d2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f100ad7d2a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100ad7d2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f100ad7d2a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100ad7d2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f100ad7d2a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100ad7d2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f100ad7d2a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100ad7d2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f100ad7d2a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2b97712c9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f2b97712c9_1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f2b97712c9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f2b97712c9_1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2b97712c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f2b97712c9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2b97712c9_1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f2b97712c9_1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2b97712c9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f2b97712c9_1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2b97712c9_1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3f2b97712c9_1_2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2b97712c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f2b97712c9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06094e26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f06094e26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06094e2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f06094e26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06094e26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f06094e263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06094e26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f06094e263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06094e26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3f06094e263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06094e26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f06094e263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06094e26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f06094e263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2b97712c9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3f2b97712c9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2b97712c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f2b97712c9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f2b97712c9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f2b97712c9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2b97712c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f2b97712c9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2b97712c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f2b97712c9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2b97712c9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f2b97712c9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f2b97712c9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f2b97712c9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2b97712c9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f2b97712c9_1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2b97712c9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f2b97712c9_1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2b97712c9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3f2b97712c9_1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2b97712c9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3f2b97712c9_1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f2b97712c9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g3f2b97712c9_1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2b97712c9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3f2b97712c9_1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f2b97712c9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3f2b97712c9_0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3" name="Shape 23"/>
        <p:cNvGrpSpPr/>
        <p:nvPr/>
      </p:nvGrpSpPr>
      <p:grpSpPr>
        <a:xfrm>
          <a:off x="0" y="0"/>
          <a:ext cx="0" cy="0"/>
          <a:chOff x="0" y="0"/>
          <a:chExt cx="0" cy="0"/>
        </a:xfrm>
      </p:grpSpPr>
      <p:sp>
        <p:nvSpPr>
          <p:cNvPr id="24" name="Google Shape;2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7" name="Google Shape;3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5"/>
          <p:cNvSpPr/>
          <p:nvPr>
            <p:ph idx="2" type="pic"/>
          </p:nvPr>
        </p:nvSpPr>
        <p:spPr>
          <a:xfrm>
            <a:off x="5183188" y="987425"/>
            <a:ext cx="6172200" cy="4873625"/>
          </a:xfrm>
          <a:prstGeom prst="rect">
            <a:avLst/>
          </a:prstGeom>
          <a:noFill/>
          <a:ln>
            <a:noFill/>
          </a:ln>
        </p:spPr>
      </p:sp>
      <p:sp>
        <p:nvSpPr>
          <p:cNvPr id="75" name="Google Shape;75;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1" name="Shape 91"/>
        <p:cNvGrpSpPr/>
        <p:nvPr/>
      </p:nvGrpSpPr>
      <p:grpSpPr>
        <a:xfrm>
          <a:off x="0" y="0"/>
          <a:ext cx="0" cy="0"/>
          <a:chOff x="0" y="0"/>
          <a:chExt cx="0" cy="0"/>
        </a:xfrm>
      </p:grpSpPr>
      <p:sp>
        <p:nvSpPr>
          <p:cNvPr id="92" name="Google Shape;9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17.png"/><Relationship Id="rId7"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7.png"/></Relationships>
</file>

<file path=ppt/slides/_rels/slide14.xml.rels><?xml version="1.0" encoding="UTF-8" standalone="yes"?><Relationships xmlns="http://schemas.openxmlformats.org/package/2006/relationships"><Relationship Id="rId10"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7.png"/><Relationship Id="rId9"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33.png"/><Relationship Id="rId7" Type="http://schemas.openxmlformats.org/officeDocument/2006/relationships/image" Target="../media/image20.png"/><Relationship Id="rId8"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hyperlink" Target="https://www.geeksforgeeks.org/machine-learning/k-means-clustering-introduction/" TargetMode="External"/><Relationship Id="rId5" Type="http://schemas.openxmlformats.org/officeDocument/2006/relationships/image" Target="../media/image7.png"/><Relationship Id="rId6"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4.png"/><Relationship Id="rId6"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hyperlink" Target="https://pypi.org/project/kmedoids/" TargetMode="External"/><Relationship Id="rId5" Type="http://schemas.openxmlformats.org/officeDocument/2006/relationships/image" Target="../media/image7.png"/><Relationship Id="rId6"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hyperlink" Target="https://pythonhosted.org/scikit-fuzzy/api/skfuzzy.cluster.html" TargetMode="External"/><Relationship Id="rId5" Type="http://schemas.openxmlformats.org/officeDocument/2006/relationships/image" Target="../media/image7.png"/><Relationship Id="rId6"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7.png"/><Relationship Id="rId9" Type="http://schemas.openxmlformats.org/officeDocument/2006/relationships/image" Target="../media/image46.png"/><Relationship Id="rId5" Type="http://schemas.openxmlformats.org/officeDocument/2006/relationships/image" Target="../media/image30.png"/><Relationship Id="rId6" Type="http://schemas.openxmlformats.org/officeDocument/2006/relationships/image" Target="../media/image35.png"/><Relationship Id="rId7" Type="http://schemas.openxmlformats.org/officeDocument/2006/relationships/image" Target="../media/image34.png"/><Relationship Id="rId8"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1.png"/><Relationship Id="rId6" Type="http://schemas.openxmlformats.org/officeDocument/2006/relationships/image" Target="../media/image30.png"/><Relationship Id="rId7" Type="http://schemas.openxmlformats.org/officeDocument/2006/relationships/image" Target="../media/image44.png"/><Relationship Id="rId8"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1.png"/><Relationship Id="rId6" Type="http://schemas.openxmlformats.org/officeDocument/2006/relationships/image" Target="../media/image30.png"/><Relationship Id="rId7" Type="http://schemas.openxmlformats.org/officeDocument/2006/relationships/image" Target="../media/image38.png"/><Relationship Id="rId8"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1.png"/><Relationship Id="rId6" Type="http://schemas.openxmlformats.org/officeDocument/2006/relationships/image" Target="../media/image30.png"/><Relationship Id="rId7" Type="http://schemas.openxmlformats.org/officeDocument/2006/relationships/image" Target="../media/image43.png"/></Relationships>
</file>

<file path=ppt/slides/_rels/slide32.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54.png"/><Relationship Id="rId13" Type="http://schemas.openxmlformats.org/officeDocument/2006/relationships/image" Target="../media/image50.png"/><Relationship Id="rId12"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7.png"/><Relationship Id="rId9" Type="http://schemas.openxmlformats.org/officeDocument/2006/relationships/image" Target="../media/image59.png"/><Relationship Id="rId15" Type="http://schemas.openxmlformats.org/officeDocument/2006/relationships/image" Target="../media/image49.png"/><Relationship Id="rId14" Type="http://schemas.openxmlformats.org/officeDocument/2006/relationships/image" Target="../media/image52.png"/><Relationship Id="rId5" Type="http://schemas.openxmlformats.org/officeDocument/2006/relationships/image" Target="../media/image43.png"/><Relationship Id="rId6" Type="http://schemas.openxmlformats.org/officeDocument/2006/relationships/image" Target="../media/image40.png"/><Relationship Id="rId7" Type="http://schemas.openxmlformats.org/officeDocument/2006/relationships/image" Target="../media/image39.png"/><Relationship Id="rId8" Type="http://schemas.openxmlformats.org/officeDocument/2006/relationships/image" Target="../media/image6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7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7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56.png"/><Relationship Id="rId6" Type="http://schemas.openxmlformats.org/officeDocument/2006/relationships/image" Target="../media/image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67.png"/><Relationship Id="rId6" Type="http://schemas.openxmlformats.org/officeDocument/2006/relationships/image" Target="../media/image6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58.png"/><Relationship Id="rId6" Type="http://schemas.openxmlformats.org/officeDocument/2006/relationships/image" Target="../media/image7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55.png"/><Relationship Id="rId6" Type="http://schemas.openxmlformats.org/officeDocument/2006/relationships/image" Target="../media/image5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64.png"/><Relationship Id="rId6" Type="http://schemas.openxmlformats.org/officeDocument/2006/relationships/image" Target="../media/image6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jp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6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69.png"/><Relationship Id="rId6" Type="http://schemas.openxmlformats.org/officeDocument/2006/relationships/image" Target="../media/image7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72.png"/><Relationship Id="rId6" Type="http://schemas.openxmlformats.org/officeDocument/2006/relationships/image" Target="../media/image74.png"/><Relationship Id="rId7" Type="http://schemas.openxmlformats.org/officeDocument/2006/relationships/image" Target="../media/image7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jp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jpg"/><Relationship Id="rId4" Type="http://schemas.openxmlformats.org/officeDocument/2006/relationships/hyperlink" Target="https://www.geeksforgeeks.org/machine-learning/implementing-apriori-algorithm-in-python/" TargetMode="External"/><Relationship Id="rId5" Type="http://schemas.openxmlformats.org/officeDocument/2006/relationships/hyperlink" Target="https://www.geeksforgeeks.org/machine-learning/implementing-apriori-algorithm-in-python/" TargetMode="External"/><Relationship Id="rId6" Type="http://schemas.openxmlformats.org/officeDocument/2006/relationships/image" Target="../media/image7.png"/><Relationship Id="rId7" Type="http://schemas.openxmlformats.org/officeDocument/2006/relationships/image" Target="../media/image66.png"/><Relationship Id="rId8" Type="http://schemas.openxmlformats.org/officeDocument/2006/relationships/image" Target="../media/image7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68.jp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
          <p:cNvPicPr preferRelativeResize="0"/>
          <p:nvPr/>
        </p:nvPicPr>
        <p:blipFill rotWithShape="1">
          <a:blip r:embed="rId3">
            <a:alphaModFix/>
          </a:blip>
          <a:srcRect b="0" l="0" r="0" t="0"/>
          <a:stretch/>
        </p:blipFill>
        <p:spPr>
          <a:xfrm>
            <a:off x="0" y="-17279"/>
            <a:ext cx="12191999" cy="6875279"/>
          </a:xfrm>
          <a:prstGeom prst="rect">
            <a:avLst/>
          </a:prstGeom>
          <a:noFill/>
          <a:ln>
            <a:noFill/>
          </a:ln>
        </p:spPr>
      </p:pic>
      <p:sp>
        <p:nvSpPr>
          <p:cNvPr id="101" name="Google Shape;101;p1"/>
          <p:cNvSpPr txBox="1"/>
          <p:nvPr>
            <p:ph type="ctrTitle"/>
          </p:nvPr>
        </p:nvSpPr>
        <p:spPr>
          <a:xfrm>
            <a:off x="6095999" y="2957663"/>
            <a:ext cx="5938298" cy="156471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lang="en-ZA"/>
              <a:t>Unsupervised Machine Learning</a:t>
            </a:r>
            <a:endParaRPr/>
          </a:p>
        </p:txBody>
      </p:sp>
      <p:sp>
        <p:nvSpPr>
          <p:cNvPr id="102" name="Google Shape;102;p1"/>
          <p:cNvSpPr txBox="1"/>
          <p:nvPr>
            <p:ph idx="1" type="subTitle"/>
          </p:nvPr>
        </p:nvSpPr>
        <p:spPr>
          <a:xfrm>
            <a:off x="6095999" y="4638839"/>
            <a:ext cx="5938298" cy="91844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ZA"/>
              <a:t>Dr Mpho Mokoatle</a:t>
            </a:r>
            <a:endParaRPr/>
          </a:p>
          <a:p>
            <a:pPr indent="0" lvl="0" marL="0" rtl="0" algn="ctr">
              <a:lnSpc>
                <a:spcPct val="90000"/>
              </a:lnSpc>
              <a:spcBef>
                <a:spcPts val="0"/>
              </a:spcBef>
              <a:spcAft>
                <a:spcPts val="0"/>
              </a:spcAft>
              <a:buClr>
                <a:schemeClr val="dk1"/>
              </a:buClr>
              <a:buSzPts val="2400"/>
              <a:buNone/>
            </a:pPr>
            <a:r>
              <a:rPr lang="en-ZA" sz="1200"/>
              <a:t>09 July 2026</a:t>
            </a:r>
            <a:endParaRPr sz="1200"/>
          </a:p>
        </p:txBody>
      </p:sp>
      <p:pic>
        <p:nvPicPr>
          <p:cNvPr id="103" name="Google Shape;103;p1"/>
          <p:cNvPicPr preferRelativeResize="0"/>
          <p:nvPr/>
        </p:nvPicPr>
        <p:blipFill rotWithShape="1">
          <a:blip r:embed="rId4">
            <a:alphaModFix/>
          </a:blip>
          <a:srcRect b="0" l="0" r="0" t="0"/>
          <a:stretch/>
        </p:blipFill>
        <p:spPr>
          <a:xfrm>
            <a:off x="1660675" y="3242430"/>
            <a:ext cx="3211098" cy="146496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
          <p:cNvPicPr preferRelativeResize="0"/>
          <p:nvPr/>
        </p:nvPicPr>
        <p:blipFill rotWithShape="1">
          <a:blip r:embed="rId3">
            <a:alphaModFix/>
          </a:blip>
          <a:srcRect b="0" l="0" r="0" t="0"/>
          <a:stretch/>
        </p:blipFill>
        <p:spPr>
          <a:xfrm>
            <a:off x="0" y="0"/>
            <a:ext cx="12192000" cy="6875280"/>
          </a:xfrm>
          <a:prstGeom prst="rect">
            <a:avLst/>
          </a:prstGeom>
          <a:noFill/>
          <a:ln>
            <a:noFill/>
          </a:ln>
        </p:spPr>
      </p:pic>
      <p:sp>
        <p:nvSpPr>
          <p:cNvPr id="109" name="Google Shape;109;p2"/>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rPr lang="en-ZA"/>
              <a:t>What is </a:t>
            </a:r>
            <a:r>
              <a:rPr lang="en-ZA"/>
              <a:t>Unsupervised Machine Learning?</a:t>
            </a:r>
            <a:endParaRPr/>
          </a:p>
          <a:p>
            <a:pPr indent="0" lvl="0" marL="0" rtl="0" algn="l">
              <a:lnSpc>
                <a:spcPct val="90000"/>
              </a:lnSpc>
              <a:spcBef>
                <a:spcPts val="0"/>
              </a:spcBef>
              <a:spcAft>
                <a:spcPts val="0"/>
              </a:spcAft>
              <a:buClr>
                <a:schemeClr val="dk1"/>
              </a:buClr>
              <a:buSzPct val="100000"/>
              <a:buFont typeface="Play"/>
              <a:buNone/>
            </a:pPr>
            <a:r>
              <a:t/>
            </a:r>
            <a:endParaRPr/>
          </a:p>
        </p:txBody>
      </p:sp>
      <p:sp>
        <p:nvSpPr>
          <p:cNvPr id="110" name="Google Shape;110;p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ZA"/>
              <a:t>Unsupervised learning is a type of machine learning where the model works without labelled data.</a:t>
            </a:r>
            <a:endParaRPr/>
          </a:p>
          <a:p>
            <a:pPr indent="0" lvl="0" marL="457200" rtl="0" algn="l">
              <a:lnSpc>
                <a:spcPct val="90000"/>
              </a:lnSpc>
              <a:spcBef>
                <a:spcPts val="0"/>
              </a:spcBef>
              <a:spcAft>
                <a:spcPts val="0"/>
              </a:spcAft>
              <a:buNone/>
            </a:pPr>
            <a:r>
              <a:t/>
            </a:r>
            <a:endParaRPr/>
          </a:p>
        </p:txBody>
      </p:sp>
      <p:pic>
        <p:nvPicPr>
          <p:cNvPr id="111" name="Google Shape;111;p2"/>
          <p:cNvPicPr preferRelativeResize="0"/>
          <p:nvPr/>
        </p:nvPicPr>
        <p:blipFill rotWithShape="1">
          <a:blip r:embed="rId4">
            <a:alphaModFix/>
          </a:blip>
          <a:srcRect b="0" l="0" r="0" t="0"/>
          <a:stretch/>
        </p:blipFill>
        <p:spPr>
          <a:xfrm>
            <a:off x="629723" y="991034"/>
            <a:ext cx="1294524" cy="590587"/>
          </a:xfrm>
          <a:prstGeom prst="rect">
            <a:avLst/>
          </a:prstGeom>
          <a:noFill/>
          <a:ln>
            <a:noFill/>
          </a:ln>
        </p:spPr>
      </p:pic>
      <p:pic>
        <p:nvPicPr>
          <p:cNvPr id="112" name="Google Shape;112;p2"/>
          <p:cNvPicPr preferRelativeResize="0"/>
          <p:nvPr/>
        </p:nvPicPr>
        <p:blipFill>
          <a:blip r:embed="rId5">
            <a:alphaModFix/>
          </a:blip>
          <a:stretch>
            <a:fillRect/>
          </a:stretch>
        </p:blipFill>
        <p:spPr>
          <a:xfrm>
            <a:off x="4053388" y="3000325"/>
            <a:ext cx="4371975" cy="3657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3f2b97712c9_0_5"/>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18" name="Google Shape;118;g3f2b97712c9_0_5"/>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rPr lang="en-ZA"/>
              <a:t>Unsupervised Machine Learning Steps</a:t>
            </a:r>
            <a:endParaRPr/>
          </a:p>
          <a:p>
            <a:pPr indent="0" lvl="0" marL="0" rtl="0" algn="l">
              <a:lnSpc>
                <a:spcPct val="90000"/>
              </a:lnSpc>
              <a:spcBef>
                <a:spcPts val="0"/>
              </a:spcBef>
              <a:spcAft>
                <a:spcPts val="0"/>
              </a:spcAft>
              <a:buClr>
                <a:schemeClr val="dk1"/>
              </a:buClr>
              <a:buSzPct val="100000"/>
              <a:buFont typeface="Play"/>
              <a:buNone/>
            </a:pPr>
            <a:r>
              <a:t/>
            </a:r>
            <a:endParaRPr/>
          </a:p>
        </p:txBody>
      </p:sp>
      <p:sp>
        <p:nvSpPr>
          <p:cNvPr id="119" name="Google Shape;119;g3f2b97712c9_0_5"/>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ZA"/>
              <a:t>The working of unsupervised machine learning can be explained in these steps:</a:t>
            </a:r>
            <a:endParaRPr/>
          </a:p>
          <a:p>
            <a:pPr indent="0" lvl="0" marL="457200" rtl="0" algn="l">
              <a:lnSpc>
                <a:spcPct val="90000"/>
              </a:lnSpc>
              <a:spcBef>
                <a:spcPts val="0"/>
              </a:spcBef>
              <a:spcAft>
                <a:spcPts val="0"/>
              </a:spcAft>
              <a:buNone/>
            </a:pPr>
            <a:r>
              <a:t/>
            </a:r>
            <a:endParaRPr/>
          </a:p>
        </p:txBody>
      </p:sp>
      <p:pic>
        <p:nvPicPr>
          <p:cNvPr id="120" name="Google Shape;120;g3f2b97712c9_0_5"/>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21" name="Google Shape;121;g3f2b97712c9_0_5"/>
          <p:cNvPicPr preferRelativeResize="0"/>
          <p:nvPr/>
        </p:nvPicPr>
        <p:blipFill>
          <a:blip r:embed="rId5">
            <a:alphaModFix/>
          </a:blip>
          <a:stretch>
            <a:fillRect/>
          </a:stretch>
        </p:blipFill>
        <p:spPr>
          <a:xfrm>
            <a:off x="0" y="3292828"/>
            <a:ext cx="12191999" cy="230509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g3f2b97712c9_0_20"/>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27" name="Google Shape;127;g3f2b97712c9_0_20"/>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rPr lang="en-ZA"/>
              <a:t>Applications of Unsupervised Learning</a:t>
            </a:r>
            <a:endParaRPr/>
          </a:p>
          <a:p>
            <a:pPr indent="0" lvl="0" marL="0" rtl="0" algn="l">
              <a:lnSpc>
                <a:spcPct val="90000"/>
              </a:lnSpc>
              <a:spcBef>
                <a:spcPts val="0"/>
              </a:spcBef>
              <a:spcAft>
                <a:spcPts val="0"/>
              </a:spcAft>
              <a:buClr>
                <a:schemeClr val="dk1"/>
              </a:buClr>
              <a:buSzPct val="100000"/>
              <a:buFont typeface="Play"/>
              <a:buNone/>
            </a:pPr>
            <a:r>
              <a:t/>
            </a:r>
            <a:endParaRPr/>
          </a:p>
        </p:txBody>
      </p:sp>
      <p:sp>
        <p:nvSpPr>
          <p:cNvPr id="128" name="Google Shape;128;g3f2b97712c9_0_20"/>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342900" lvl="0" marL="914400" rtl="0" algn="l">
              <a:spcBef>
                <a:spcPts val="0"/>
              </a:spcBef>
              <a:spcAft>
                <a:spcPts val="0"/>
              </a:spcAft>
              <a:buSzPts val="1800"/>
              <a:buChar char="•"/>
            </a:pPr>
            <a:r>
              <a:rPr b="1" lang="en-ZA"/>
              <a:t>Customer segmentation</a:t>
            </a:r>
            <a:r>
              <a:rPr lang="en-ZA"/>
              <a:t>: Group customers with similar characteristics for targeted marketing.</a:t>
            </a:r>
            <a:endParaRPr/>
          </a:p>
          <a:p>
            <a:pPr indent="-342900" lvl="0" marL="914400" rtl="0" algn="l">
              <a:spcBef>
                <a:spcPts val="0"/>
              </a:spcBef>
              <a:spcAft>
                <a:spcPts val="0"/>
              </a:spcAft>
              <a:buSzPts val="1800"/>
              <a:buChar char="•"/>
            </a:pPr>
            <a:r>
              <a:rPr b="1" lang="en-ZA"/>
              <a:t>Image segmentation</a:t>
            </a:r>
            <a:r>
              <a:rPr lang="en-ZA"/>
              <a:t>: Identify objects within an image.</a:t>
            </a:r>
            <a:endParaRPr/>
          </a:p>
          <a:p>
            <a:pPr indent="-342900" lvl="0" marL="914400" rtl="0" algn="l">
              <a:spcBef>
                <a:spcPts val="0"/>
              </a:spcBef>
              <a:spcAft>
                <a:spcPts val="0"/>
              </a:spcAft>
              <a:buSzPts val="1800"/>
              <a:buChar char="•"/>
            </a:pPr>
            <a:r>
              <a:rPr b="1" lang="en-ZA"/>
              <a:t>Anomaly detection</a:t>
            </a:r>
            <a:r>
              <a:rPr lang="en-ZA"/>
              <a:t>: Detect unusual patterns in data.</a:t>
            </a:r>
            <a:endParaRPr/>
          </a:p>
          <a:p>
            <a:pPr indent="-342900" lvl="0" marL="914400" rtl="0" algn="l">
              <a:spcBef>
                <a:spcPts val="0"/>
              </a:spcBef>
              <a:spcAft>
                <a:spcPts val="0"/>
              </a:spcAft>
              <a:buSzPts val="1800"/>
              <a:buChar char="•"/>
            </a:pPr>
            <a:r>
              <a:rPr b="1" lang="en-ZA"/>
              <a:t>Dimensionality reduction:</a:t>
            </a:r>
            <a:r>
              <a:rPr lang="en-ZA"/>
              <a:t> Reduce complex data sets for easier visualisation and analysis.</a:t>
            </a:r>
            <a:endParaRPr/>
          </a:p>
          <a:p>
            <a:pPr indent="-342900" lvl="0" marL="914400" rtl="0" algn="l">
              <a:spcBef>
                <a:spcPts val="0"/>
              </a:spcBef>
              <a:spcAft>
                <a:spcPts val="0"/>
              </a:spcAft>
              <a:buSzPts val="1800"/>
              <a:buChar char="•"/>
            </a:pPr>
            <a:r>
              <a:rPr b="1" lang="en-ZA"/>
              <a:t>Genetics </a:t>
            </a:r>
            <a:r>
              <a:rPr lang="en-ZA"/>
              <a:t>- clustering DNA patterns to analyse evolutionary biology.</a:t>
            </a:r>
            <a:endParaRPr/>
          </a:p>
          <a:p>
            <a:pPr indent="0" lvl="0" marL="914400" rtl="0" algn="l">
              <a:lnSpc>
                <a:spcPct val="90000"/>
              </a:lnSpc>
              <a:spcBef>
                <a:spcPts val="0"/>
              </a:spcBef>
              <a:spcAft>
                <a:spcPts val="0"/>
              </a:spcAft>
              <a:buNone/>
            </a:pPr>
            <a:r>
              <a:t/>
            </a:r>
            <a:endParaRPr/>
          </a:p>
        </p:txBody>
      </p:sp>
      <p:pic>
        <p:nvPicPr>
          <p:cNvPr id="129" name="Google Shape;129;g3f2b97712c9_0_20"/>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g3f2b97712c9_0_3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35" name="Google Shape;135;g3f2b97712c9_0_31"/>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rPr lang="en-ZA"/>
              <a:t>Unsupervised Learning Techniques</a:t>
            </a:r>
            <a:endParaRPr/>
          </a:p>
          <a:p>
            <a:pPr indent="0" lvl="0" marL="0" rtl="0" algn="l">
              <a:lnSpc>
                <a:spcPct val="90000"/>
              </a:lnSpc>
              <a:spcBef>
                <a:spcPts val="0"/>
              </a:spcBef>
              <a:spcAft>
                <a:spcPts val="0"/>
              </a:spcAft>
              <a:buClr>
                <a:schemeClr val="dk1"/>
              </a:buClr>
              <a:buSzPct val="100000"/>
              <a:buFont typeface="Play"/>
              <a:buNone/>
            </a:pPr>
            <a:r>
              <a:t/>
            </a:r>
            <a:endParaRPr/>
          </a:p>
        </p:txBody>
      </p:sp>
      <p:sp>
        <p:nvSpPr>
          <p:cNvPr id="136" name="Google Shape;136;g3f2b97712c9_0_31"/>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ZA"/>
              <a:t>We will explore three key </a:t>
            </a:r>
            <a:r>
              <a:rPr lang="en-ZA"/>
              <a:t>techniques</a:t>
            </a:r>
            <a:r>
              <a:rPr lang="en-ZA"/>
              <a:t>:</a:t>
            </a:r>
            <a:endParaRPr/>
          </a:p>
          <a:p>
            <a:pPr indent="0" lvl="0" marL="0" rtl="0" algn="l">
              <a:spcBef>
                <a:spcPts val="0"/>
              </a:spcBef>
              <a:spcAft>
                <a:spcPts val="0"/>
              </a:spcAft>
              <a:buNone/>
            </a:pPr>
            <a:r>
              <a:t/>
            </a:r>
            <a:endParaRPr/>
          </a:p>
          <a:p>
            <a:pPr indent="0" lvl="0" marL="914400" rtl="0" algn="l">
              <a:spcBef>
                <a:spcPts val="0"/>
              </a:spcBef>
              <a:spcAft>
                <a:spcPts val="0"/>
              </a:spcAft>
              <a:buNone/>
            </a:pPr>
            <a:r>
              <a:rPr lang="en-ZA"/>
              <a:t>1. Clustering: K-means, K-medoids, Fuzzy Clustering</a:t>
            </a:r>
            <a:endParaRPr/>
          </a:p>
          <a:p>
            <a:pPr indent="0" lvl="0" marL="914400" rtl="0" algn="l">
              <a:spcBef>
                <a:spcPts val="0"/>
              </a:spcBef>
              <a:spcAft>
                <a:spcPts val="0"/>
              </a:spcAft>
              <a:buNone/>
            </a:pPr>
            <a:r>
              <a:rPr lang="en-ZA"/>
              <a:t>2. </a:t>
            </a:r>
            <a:r>
              <a:rPr lang="en-ZA"/>
              <a:t>Dimensionality</a:t>
            </a:r>
            <a:r>
              <a:rPr lang="en-ZA"/>
              <a:t> reduction: PCA and t-SNE</a:t>
            </a:r>
            <a:endParaRPr/>
          </a:p>
          <a:p>
            <a:pPr indent="0" lvl="0" marL="914400" rtl="0" algn="l">
              <a:spcBef>
                <a:spcPts val="0"/>
              </a:spcBef>
              <a:spcAft>
                <a:spcPts val="0"/>
              </a:spcAft>
              <a:buNone/>
            </a:pPr>
            <a:r>
              <a:rPr lang="en-ZA"/>
              <a:t>3. Association Rule Learning</a:t>
            </a:r>
            <a:endParaRPr/>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137" name="Google Shape;137;g3f2b97712c9_0_3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3f2b97712c9_0_4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43" name="Google Shape;143;g3f2b97712c9_0_41"/>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Clustering Algorithms</a:t>
            </a:r>
            <a:endParaRPr/>
          </a:p>
        </p:txBody>
      </p:sp>
      <p:sp>
        <p:nvSpPr>
          <p:cNvPr id="144" name="Google Shape;144;g3f2b97712c9_0_41"/>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381000" lvl="0" marL="914400" rtl="0" algn="l">
              <a:spcBef>
                <a:spcPts val="0"/>
              </a:spcBef>
              <a:spcAft>
                <a:spcPts val="0"/>
              </a:spcAft>
              <a:buSzPts val="2400"/>
              <a:buChar char="•"/>
            </a:pPr>
            <a:r>
              <a:rPr lang="en-ZA" sz="2400"/>
              <a:t>Clustering is an unsupervised machine learning technique that groups unlabeled data into clusters based on similarity. Its goal is to discover patterns or relationships within the data without any prior knowledge of categories or labels.</a:t>
            </a:r>
            <a:endParaRPr sz="2400"/>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145" name="Google Shape;145;g3f2b97712c9_0_4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46" name="Google Shape;146;g3f2b97712c9_0_41"/>
          <p:cNvPicPr preferRelativeResize="0"/>
          <p:nvPr/>
        </p:nvPicPr>
        <p:blipFill>
          <a:blip r:embed="rId5">
            <a:alphaModFix/>
          </a:blip>
          <a:stretch>
            <a:fillRect/>
          </a:stretch>
        </p:blipFill>
        <p:spPr>
          <a:xfrm>
            <a:off x="4960600" y="3613725"/>
            <a:ext cx="4132449" cy="32442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3f2b97712c9_1_14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52" name="Google Shape;152;g3f2b97712c9_1_141"/>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a:t>
            </a:r>
            <a:endParaRPr/>
          </a:p>
        </p:txBody>
      </p:sp>
      <p:sp>
        <p:nvSpPr>
          <p:cNvPr id="153" name="Google Shape;153;g3f2b97712c9_1_141"/>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n-ZA" sz="2400"/>
              <a:t>K-Means is an unsupervised machine learning clustering algorithm that groups similar data points into clusters without needing labeled data. It is used to uncover hidden patterns when the goal is to organize data based on similarity.</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b="1" lang="en-ZA" sz="2400"/>
              <a:t>Example</a:t>
            </a:r>
            <a:r>
              <a:rPr lang="en-ZA" sz="2400"/>
              <a:t>: Suppose a clothing store wants to divide its customers into groups based on:Annual Income, and Annual Spending</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ZA" sz="2400"/>
              <a:t>The data looks like this: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154" name="Google Shape;154;g3f2b97712c9_1_14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55" name="Google Shape;155;g3f2b97712c9_1_141"/>
          <p:cNvPicPr preferRelativeResize="0"/>
          <p:nvPr/>
        </p:nvPicPr>
        <p:blipFill>
          <a:blip r:embed="rId5">
            <a:alphaModFix/>
          </a:blip>
          <a:stretch>
            <a:fillRect/>
          </a:stretch>
        </p:blipFill>
        <p:spPr>
          <a:xfrm>
            <a:off x="4365825" y="4829125"/>
            <a:ext cx="5638800" cy="1638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g3f2b97712c9_1_15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61" name="Google Shape;161;g3f2b97712c9_1_152"/>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cont.</a:t>
            </a:r>
            <a:endParaRPr/>
          </a:p>
        </p:txBody>
      </p:sp>
      <p:sp>
        <p:nvSpPr>
          <p:cNvPr id="162" name="Google Shape;162;g3f2b97712c9_1_152"/>
          <p:cNvSpPr txBox="1"/>
          <p:nvPr>
            <p:ph idx="1" type="body"/>
          </p:nvPr>
        </p:nvSpPr>
        <p:spPr>
          <a:xfrm>
            <a:off x="1003500" y="219367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1 Choose the number of clusters (k)</a:t>
            </a:r>
            <a:r>
              <a:rPr lang="en-ZA" sz="2400"/>
              <a:t>: We begin by choosing the number of clusters (k). Suppose we choose k=2. This tells the k-means algorithm to find two clusters.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b="1" lang="en-ZA" sz="2400"/>
              <a:t>Step 2 Initialise the Centroids</a:t>
            </a:r>
            <a:r>
              <a:rPr lang="en-ZA" sz="2400"/>
              <a:t>: A centroid is the center of a cluster. Each data point is assigned to the nearest centroid, forming clusters. Initially, the algorithm choose two centroids randomly from the data. Say it selects: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Centroid 1 = Customer A = (25,30)</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Centroid 2 = Customer D = (80,85)</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163" name="Google Shape;163;g3f2b97712c9_1_15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64" name="Google Shape;164;g3f2b97712c9_1_152"/>
          <p:cNvPicPr preferRelativeResize="0"/>
          <p:nvPr/>
        </p:nvPicPr>
        <p:blipFill>
          <a:blip r:embed="rId5">
            <a:alphaModFix/>
          </a:blip>
          <a:stretch>
            <a:fillRect/>
          </a:stretch>
        </p:blipFill>
        <p:spPr>
          <a:xfrm>
            <a:off x="5979425" y="5090850"/>
            <a:ext cx="5364925" cy="1558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3f2b97712c9_1_164"/>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70" name="Google Shape;170;g3f2b97712c9_1_164"/>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cont.</a:t>
            </a:r>
            <a:endParaRPr/>
          </a:p>
        </p:txBody>
      </p:sp>
      <p:sp>
        <p:nvSpPr>
          <p:cNvPr id="171" name="Google Shape;171;g3f2b97712c9_1_164"/>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3 Compute the distance to each centroid</a:t>
            </a:r>
            <a:r>
              <a:rPr lang="en-ZA" sz="2400"/>
              <a:t>: K-means usually uses the euclidean distance:</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Let's calculate the distances for </a:t>
            </a:r>
            <a:r>
              <a:rPr b="1" lang="en-ZA" sz="2400"/>
              <a:t>Customer B</a:t>
            </a:r>
            <a:r>
              <a:rPr lang="en-ZA" sz="2400"/>
              <a:t>.</a:t>
            </a:r>
            <a:endParaRPr sz="2400"/>
          </a:p>
          <a:p>
            <a:pPr indent="0" lvl="0" marL="0" rtl="0" algn="l">
              <a:spcBef>
                <a:spcPts val="0"/>
              </a:spcBef>
              <a:spcAft>
                <a:spcPts val="0"/>
              </a:spcAft>
              <a:buNone/>
            </a:pPr>
            <a:r>
              <a:rPr lang="en-ZA" sz="2400"/>
              <a:t>Distance to Centroid 1 (25,30) ~ 5.83</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Distance to Centroid 2 (80,85) ~ 72.14.</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172" name="Google Shape;172;g3f2b97712c9_1_164"/>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73" name="Google Shape;173;g3f2b97712c9_1_164"/>
          <p:cNvPicPr preferRelativeResize="0"/>
          <p:nvPr/>
        </p:nvPicPr>
        <p:blipFill>
          <a:blip r:embed="rId5">
            <a:alphaModFix/>
          </a:blip>
          <a:stretch>
            <a:fillRect/>
          </a:stretch>
        </p:blipFill>
        <p:spPr>
          <a:xfrm>
            <a:off x="4390738" y="2827513"/>
            <a:ext cx="3571875" cy="638175"/>
          </a:xfrm>
          <a:prstGeom prst="rect">
            <a:avLst/>
          </a:prstGeom>
          <a:noFill/>
          <a:ln>
            <a:noFill/>
          </a:ln>
        </p:spPr>
      </p:pic>
      <p:pic>
        <p:nvPicPr>
          <p:cNvPr id="174" name="Google Shape;174;g3f2b97712c9_1_164"/>
          <p:cNvPicPr preferRelativeResize="0"/>
          <p:nvPr/>
        </p:nvPicPr>
        <p:blipFill>
          <a:blip r:embed="rId6">
            <a:alphaModFix/>
          </a:blip>
          <a:stretch>
            <a:fillRect/>
          </a:stretch>
        </p:blipFill>
        <p:spPr>
          <a:xfrm>
            <a:off x="3740525" y="5098025"/>
            <a:ext cx="5544675" cy="1610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3f2b97712c9_1_175"/>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80" name="Google Shape;180;g3f2b97712c9_1_175"/>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cont.</a:t>
            </a:r>
            <a:endParaRPr/>
          </a:p>
        </p:txBody>
      </p:sp>
      <p:sp>
        <p:nvSpPr>
          <p:cNvPr id="181" name="Google Shape;181;g3f2b97712c9_1_175"/>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sz="2400"/>
              <a:t>Since </a:t>
            </a:r>
            <a:r>
              <a:rPr lang="en-ZA" sz="2400"/>
              <a:t>5.83 &lt; 72.14</a:t>
            </a:r>
            <a:r>
              <a:rPr lang="en-ZA" sz="2400"/>
              <a:t>, </a:t>
            </a:r>
            <a:r>
              <a:rPr b="1" lang="en-ZA" sz="2400"/>
              <a:t>Customer B</a:t>
            </a:r>
            <a:r>
              <a:rPr lang="en-ZA" sz="2400"/>
              <a:t> belongs to Cluster 1. This process is repeated for every customer:</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rPr lang="en-ZA" sz="2400"/>
              <a:t>Now, the clusters are:</a:t>
            </a:r>
            <a:endParaRPr sz="2400"/>
          </a:p>
          <a:p>
            <a:pPr indent="0" lvl="0" marL="0" rtl="0" algn="l">
              <a:spcBef>
                <a:spcPts val="0"/>
              </a:spcBef>
              <a:spcAft>
                <a:spcPts val="0"/>
              </a:spcAft>
              <a:buClr>
                <a:schemeClr val="dk1"/>
              </a:buClr>
              <a:buSzPts val="1100"/>
              <a:buFont typeface="Arial"/>
              <a:buNone/>
            </a:pPr>
            <a:r>
              <a:rPr lang="en-ZA" sz="2400"/>
              <a:t>Cluster 1: A, B, C</a:t>
            </a:r>
            <a:endParaRPr sz="2400"/>
          </a:p>
          <a:p>
            <a:pPr indent="0" lvl="0" marL="0" rtl="0" algn="l">
              <a:spcBef>
                <a:spcPts val="0"/>
              </a:spcBef>
              <a:spcAft>
                <a:spcPts val="0"/>
              </a:spcAft>
              <a:buClr>
                <a:schemeClr val="dk1"/>
              </a:buClr>
              <a:buSzPts val="1100"/>
              <a:buFont typeface="Arial"/>
              <a:buNone/>
            </a:pPr>
            <a:r>
              <a:rPr lang="en-ZA" sz="2400"/>
              <a:t>Cluster 2: D, E, F</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182" name="Google Shape;182;g3f2b97712c9_1_175"/>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83" name="Google Shape;183;g3f2b97712c9_1_175"/>
          <p:cNvPicPr preferRelativeResize="0"/>
          <p:nvPr/>
        </p:nvPicPr>
        <p:blipFill>
          <a:blip r:embed="rId5">
            <a:alphaModFix/>
          </a:blip>
          <a:stretch>
            <a:fillRect/>
          </a:stretch>
        </p:blipFill>
        <p:spPr>
          <a:xfrm>
            <a:off x="3734075" y="2987213"/>
            <a:ext cx="5934075" cy="160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g3f2b97712c9_1_220"/>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189" name="Google Shape;189;g3f2b97712c9_1_220"/>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cont.</a:t>
            </a:r>
            <a:endParaRPr/>
          </a:p>
        </p:txBody>
      </p:sp>
      <p:sp>
        <p:nvSpPr>
          <p:cNvPr id="190" name="Google Shape;190;g3f2b97712c9_1_220"/>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4 Update the Centroids:</a:t>
            </a:r>
            <a:r>
              <a:rPr lang="en-ZA" sz="2400"/>
              <a:t> The centroid becomes the mean of all points in the cluster.</a:t>
            </a:r>
            <a:endParaRPr sz="2400"/>
          </a:p>
          <a:p>
            <a:pPr indent="0" lvl="0" marL="0" rtl="0" algn="l">
              <a:spcBef>
                <a:spcPts val="0"/>
              </a:spcBef>
              <a:spcAft>
                <a:spcPts val="0"/>
              </a:spcAft>
              <a:buNone/>
            </a:pPr>
            <a:r>
              <a:rPr b="1" lang="en-ZA" sz="2400"/>
              <a:t>For cluster 1</a:t>
            </a:r>
            <a:endParaRPr b="1"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Mean income = 27.67</a:t>
            </a:r>
            <a:endParaRPr sz="2400"/>
          </a:p>
          <a:p>
            <a:pPr indent="0" lvl="0" marL="0" rtl="0" algn="l">
              <a:spcBef>
                <a:spcPts val="0"/>
              </a:spcBef>
              <a:spcAft>
                <a:spcPts val="0"/>
              </a:spcAft>
              <a:buNone/>
            </a:pPr>
            <a:r>
              <a:rPr lang="en-ZA" sz="2400"/>
              <a:t>Mean spending = 31</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New centroid_1: (27.67,31)</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191" name="Google Shape;191;g3f2b97712c9_1_220"/>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192" name="Google Shape;192;g3f2b97712c9_1_220"/>
          <p:cNvPicPr preferRelativeResize="0"/>
          <p:nvPr/>
        </p:nvPicPr>
        <p:blipFill>
          <a:blip r:embed="rId5">
            <a:alphaModFix/>
          </a:blip>
          <a:stretch>
            <a:fillRect/>
          </a:stretch>
        </p:blipFill>
        <p:spPr>
          <a:xfrm>
            <a:off x="2398338" y="3230388"/>
            <a:ext cx="5781675" cy="962025"/>
          </a:xfrm>
          <a:prstGeom prst="rect">
            <a:avLst/>
          </a:prstGeom>
          <a:noFill/>
          <a:ln>
            <a:noFill/>
          </a:ln>
        </p:spPr>
      </p:pic>
      <p:pic>
        <p:nvPicPr>
          <p:cNvPr id="193" name="Google Shape;193;g3f2b97712c9_1_220"/>
          <p:cNvPicPr preferRelativeResize="0"/>
          <p:nvPr/>
        </p:nvPicPr>
        <p:blipFill>
          <a:blip r:embed="rId6">
            <a:alphaModFix/>
          </a:blip>
          <a:stretch>
            <a:fillRect/>
          </a:stretch>
        </p:blipFill>
        <p:spPr>
          <a:xfrm>
            <a:off x="5430275" y="2511596"/>
            <a:ext cx="2853974" cy="511050"/>
          </a:xfrm>
          <a:prstGeom prst="rect">
            <a:avLst/>
          </a:prstGeom>
          <a:noFill/>
          <a:ln>
            <a:noFill/>
          </a:ln>
        </p:spPr>
      </p:pic>
      <p:pic>
        <p:nvPicPr>
          <p:cNvPr id="194" name="Google Shape;194;g3f2b97712c9_1_220"/>
          <p:cNvPicPr preferRelativeResize="0"/>
          <p:nvPr/>
        </p:nvPicPr>
        <p:blipFill>
          <a:blip r:embed="rId7">
            <a:alphaModFix/>
          </a:blip>
          <a:stretch>
            <a:fillRect/>
          </a:stretch>
        </p:blipFill>
        <p:spPr>
          <a:xfrm>
            <a:off x="8915725" y="2657575"/>
            <a:ext cx="285750" cy="219075"/>
          </a:xfrm>
          <a:prstGeom prst="rect">
            <a:avLst/>
          </a:prstGeom>
          <a:noFill/>
          <a:ln>
            <a:noFill/>
          </a:ln>
        </p:spPr>
      </p:pic>
      <p:sp>
        <p:nvSpPr>
          <p:cNvPr id="195" name="Google Shape;195;g3f2b97712c9_1_220"/>
          <p:cNvSpPr txBox="1"/>
          <p:nvPr/>
        </p:nvSpPr>
        <p:spPr>
          <a:xfrm>
            <a:off x="9201475" y="2582475"/>
            <a:ext cx="2886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ZA" sz="1200">
                <a:solidFill>
                  <a:schemeClr val="dk1"/>
                </a:solidFill>
              </a:rPr>
              <a:t>= the new centroid cluster i</a:t>
            </a:r>
            <a:endParaRPr sz="2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g3f2b97712c9_1_234"/>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01" name="Google Shape;201;g3f2b97712c9_1_234"/>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cont.</a:t>
            </a:r>
            <a:endParaRPr/>
          </a:p>
        </p:txBody>
      </p:sp>
      <p:sp>
        <p:nvSpPr>
          <p:cNvPr id="202" name="Google Shape;202;g3f2b97712c9_1_234"/>
          <p:cNvSpPr txBox="1"/>
          <p:nvPr>
            <p:ph idx="1" type="body"/>
          </p:nvPr>
        </p:nvSpPr>
        <p:spPr>
          <a:xfrm>
            <a:off x="2127000" y="1776400"/>
            <a:ext cx="10065000" cy="518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sz="2000"/>
          </a:p>
          <a:p>
            <a:pPr indent="0" lvl="0" marL="0" rtl="0" algn="l">
              <a:spcBef>
                <a:spcPts val="0"/>
              </a:spcBef>
              <a:spcAft>
                <a:spcPts val="0"/>
              </a:spcAft>
              <a:buNone/>
            </a:pPr>
            <a:r>
              <a:rPr b="1" lang="en-ZA" sz="2000"/>
              <a:t>Step 4 Update the Centroids:</a:t>
            </a:r>
            <a:r>
              <a:rPr lang="en-ZA" sz="2000"/>
              <a:t> The centroid becomes the mean of all points in the cluster.</a:t>
            </a:r>
            <a:endParaRPr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ZA" sz="2000"/>
              <a:t>For cluster 2</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ZA" sz="2000"/>
              <a:t>Mean income = 82.33</a:t>
            </a:r>
            <a:endParaRPr sz="2000"/>
          </a:p>
          <a:p>
            <a:pPr indent="0" lvl="0" marL="0" rtl="0" algn="l">
              <a:spcBef>
                <a:spcPts val="0"/>
              </a:spcBef>
              <a:spcAft>
                <a:spcPts val="0"/>
              </a:spcAft>
              <a:buNone/>
            </a:pPr>
            <a:r>
              <a:rPr lang="en-ZA" sz="2000"/>
              <a:t>Mean spending = 87.67</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ZA" sz="2000"/>
              <a:t>New centroid_2: (82.33,87.67)</a:t>
            </a:r>
            <a:endParaRPr sz="2000"/>
          </a:p>
          <a:p>
            <a:pPr indent="0" lvl="0" marL="0" rtl="0" algn="l">
              <a:spcBef>
                <a:spcPts val="0"/>
              </a:spcBef>
              <a:spcAft>
                <a:spcPts val="0"/>
              </a:spcAft>
              <a:buNone/>
            </a:pPr>
            <a:r>
              <a:rPr b="1" lang="en-ZA" sz="2000"/>
              <a:t>Step 5 Repeat:</a:t>
            </a:r>
            <a:r>
              <a:rPr lang="en-ZA" sz="2000"/>
              <a:t> Now the algorithm again computes distances using the new centroids. This process continues until no observations change clusters, or the centroids no longer move significantly. This is called convergence.</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914400" rtl="0" algn="l">
              <a:spcBef>
                <a:spcPts val="0"/>
              </a:spcBef>
              <a:spcAft>
                <a:spcPts val="0"/>
              </a:spcAft>
              <a:buNone/>
            </a:pPr>
            <a:r>
              <a:t/>
            </a:r>
            <a:endParaRPr sz="2000"/>
          </a:p>
          <a:p>
            <a:pPr indent="0" lvl="0" marL="914400" rtl="0" algn="l">
              <a:spcBef>
                <a:spcPts val="0"/>
              </a:spcBef>
              <a:spcAft>
                <a:spcPts val="0"/>
              </a:spcAft>
              <a:buNone/>
            </a:pPr>
            <a:r>
              <a:t/>
            </a:r>
            <a:endParaRPr sz="2000"/>
          </a:p>
          <a:p>
            <a:pPr indent="0" lvl="0" marL="914400" rtl="0" algn="l">
              <a:lnSpc>
                <a:spcPct val="90000"/>
              </a:lnSpc>
              <a:spcBef>
                <a:spcPts val="0"/>
              </a:spcBef>
              <a:spcAft>
                <a:spcPts val="0"/>
              </a:spcAft>
              <a:buNone/>
            </a:pPr>
            <a:r>
              <a:t/>
            </a:r>
            <a:endParaRPr sz="2000"/>
          </a:p>
        </p:txBody>
      </p:sp>
      <p:pic>
        <p:nvPicPr>
          <p:cNvPr id="203" name="Google Shape;203;g3f2b97712c9_1_234"/>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04" name="Google Shape;204;g3f2b97712c9_1_234"/>
          <p:cNvPicPr preferRelativeResize="0"/>
          <p:nvPr/>
        </p:nvPicPr>
        <p:blipFill>
          <a:blip r:embed="rId5">
            <a:alphaModFix/>
          </a:blip>
          <a:stretch>
            <a:fillRect/>
          </a:stretch>
        </p:blipFill>
        <p:spPr>
          <a:xfrm>
            <a:off x="3205150" y="3630563"/>
            <a:ext cx="5781675" cy="962025"/>
          </a:xfrm>
          <a:prstGeom prst="rect">
            <a:avLst/>
          </a:prstGeom>
          <a:noFill/>
          <a:ln>
            <a:noFill/>
          </a:ln>
        </p:spPr>
      </p:pic>
      <p:pic>
        <p:nvPicPr>
          <p:cNvPr id="205" name="Google Shape;205;g3f2b97712c9_1_234"/>
          <p:cNvPicPr preferRelativeResize="0"/>
          <p:nvPr/>
        </p:nvPicPr>
        <p:blipFill>
          <a:blip r:embed="rId6">
            <a:alphaModFix/>
          </a:blip>
          <a:stretch>
            <a:fillRect/>
          </a:stretch>
        </p:blipFill>
        <p:spPr>
          <a:xfrm>
            <a:off x="4048125" y="2459298"/>
            <a:ext cx="3298156" cy="590600"/>
          </a:xfrm>
          <a:prstGeom prst="rect">
            <a:avLst/>
          </a:prstGeom>
          <a:noFill/>
          <a:ln>
            <a:noFill/>
          </a:ln>
        </p:spPr>
      </p:pic>
      <p:sp>
        <p:nvSpPr>
          <p:cNvPr id="206" name="Google Shape;206;g3f2b97712c9_1_234"/>
          <p:cNvSpPr txBox="1"/>
          <p:nvPr/>
        </p:nvSpPr>
        <p:spPr>
          <a:xfrm>
            <a:off x="7968850" y="2384188"/>
            <a:ext cx="217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ZA" sz="1200">
                <a:solidFill>
                  <a:schemeClr val="dk1"/>
                </a:solidFill>
              </a:rPr>
              <a:t>= the new centroid cluster i</a:t>
            </a:r>
            <a:endParaRPr sz="1200">
              <a:solidFill>
                <a:schemeClr val="dk1"/>
              </a:solidFill>
            </a:endParaRPr>
          </a:p>
        </p:txBody>
      </p:sp>
      <p:pic>
        <p:nvPicPr>
          <p:cNvPr id="207" name="Google Shape;207;g3f2b97712c9_1_234"/>
          <p:cNvPicPr preferRelativeResize="0"/>
          <p:nvPr/>
        </p:nvPicPr>
        <p:blipFill>
          <a:blip r:embed="rId7">
            <a:alphaModFix/>
          </a:blip>
          <a:stretch>
            <a:fillRect/>
          </a:stretch>
        </p:blipFill>
        <p:spPr>
          <a:xfrm>
            <a:off x="7683100" y="2459300"/>
            <a:ext cx="285750" cy="219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g3f100ad7d2a_0_0"/>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13" name="Google Shape;213;g3f100ad7d2a_0_0"/>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The Elbow Method.</a:t>
            </a:r>
            <a:endParaRPr/>
          </a:p>
        </p:txBody>
      </p:sp>
      <p:sp>
        <p:nvSpPr>
          <p:cNvPr id="214" name="Google Shape;214;g3f100ad7d2a_0_0"/>
          <p:cNvSpPr txBox="1"/>
          <p:nvPr>
            <p:ph idx="1" type="body"/>
          </p:nvPr>
        </p:nvSpPr>
        <p:spPr>
          <a:xfrm>
            <a:off x="2127000" y="1929650"/>
            <a:ext cx="10065000" cy="5184000"/>
          </a:xfrm>
          <a:prstGeom prst="rect">
            <a:avLst/>
          </a:prstGeom>
          <a:noFill/>
          <a:ln>
            <a:noFill/>
          </a:ln>
        </p:spPr>
        <p:txBody>
          <a:bodyPr anchorCtr="0" anchor="t" bIns="45700" lIns="91425" spcFirstLastPara="1" rIns="91425" wrap="square" tIns="45700">
            <a:noAutofit/>
          </a:bodyPr>
          <a:lstStyle/>
          <a:p>
            <a:pPr indent="-381000" lvl="0" marL="457200" rtl="0" algn="l">
              <a:lnSpc>
                <a:spcPct val="90000"/>
              </a:lnSpc>
              <a:spcBef>
                <a:spcPts val="0"/>
              </a:spcBef>
              <a:spcAft>
                <a:spcPts val="0"/>
              </a:spcAft>
              <a:buSzPts val="2400"/>
              <a:buChar char="•"/>
            </a:pPr>
            <a:r>
              <a:rPr lang="en-ZA" sz="2400"/>
              <a:t>The Elbow Method is used to find the optimal number of clusters (k) in K-Means by analyzing how the clustering performance changes with different k values.</a:t>
            </a:r>
            <a:endParaRPr sz="2400"/>
          </a:p>
          <a:p>
            <a:pPr indent="-381000" lvl="0" marL="457200" rtl="0" algn="l">
              <a:lnSpc>
                <a:spcPct val="90000"/>
              </a:lnSpc>
              <a:spcBef>
                <a:spcPts val="0"/>
              </a:spcBef>
              <a:spcAft>
                <a:spcPts val="0"/>
              </a:spcAft>
              <a:buSzPts val="2400"/>
              <a:buChar char="•"/>
            </a:pPr>
            <a:r>
              <a:rPr b="1" lang="en-ZA" sz="2400"/>
              <a:t>Why do we use the Elbow Method</a:t>
            </a:r>
            <a:r>
              <a:rPr lang="en-ZA" sz="2400"/>
              <a:t>? When using K-Means, the algorithm cannot automatically determine how many clusters exist in the data. You must specify the value of K before training.</a:t>
            </a:r>
            <a:endParaRPr sz="2400"/>
          </a:p>
          <a:p>
            <a:pPr indent="0" lvl="0" marL="457200" rtl="0" algn="l">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215" name="Google Shape;215;g3f100ad7d2a_0_0"/>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16" name="Google Shape;216;g3f100ad7d2a_0_0"/>
          <p:cNvPicPr preferRelativeResize="0"/>
          <p:nvPr/>
        </p:nvPicPr>
        <p:blipFill>
          <a:blip r:embed="rId5">
            <a:alphaModFix/>
          </a:blip>
          <a:stretch>
            <a:fillRect/>
          </a:stretch>
        </p:blipFill>
        <p:spPr>
          <a:xfrm>
            <a:off x="4654675" y="4083047"/>
            <a:ext cx="3991250" cy="2774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g3f100ad7d2a_0_6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22" name="Google Shape;222;g3f100ad7d2a_0_62"/>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Working of Elbow Point</a:t>
            </a:r>
            <a:endParaRPr/>
          </a:p>
        </p:txBody>
      </p:sp>
      <p:sp>
        <p:nvSpPr>
          <p:cNvPr id="223" name="Google Shape;223;g3f100ad7d2a_0_62"/>
          <p:cNvSpPr txBox="1"/>
          <p:nvPr>
            <p:ph idx="1" type="body"/>
          </p:nvPr>
        </p:nvSpPr>
        <p:spPr>
          <a:xfrm>
            <a:off x="2127000" y="1929650"/>
            <a:ext cx="10065000" cy="518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ZA" sz="2400"/>
              <a:t>The Elbow Method works in the following steps:</a:t>
            </a:r>
            <a:endParaRPr sz="2400"/>
          </a:p>
          <a:p>
            <a:pPr indent="0" lvl="0" marL="457200" rtl="0" algn="l">
              <a:spcBef>
                <a:spcPts val="0"/>
              </a:spcBef>
              <a:spcAft>
                <a:spcPts val="0"/>
              </a:spcAft>
              <a:buClr>
                <a:schemeClr val="dk1"/>
              </a:buClr>
              <a:buSzPts val="1100"/>
              <a:buFont typeface="Arial"/>
              <a:buNone/>
            </a:pPr>
            <a:r>
              <a:t/>
            </a:r>
            <a:endParaRPr sz="2400"/>
          </a:p>
          <a:p>
            <a:pPr indent="0" lvl="0" marL="457200" rtl="0" algn="l">
              <a:spcBef>
                <a:spcPts val="0"/>
              </a:spcBef>
              <a:spcAft>
                <a:spcPts val="0"/>
              </a:spcAft>
              <a:buClr>
                <a:schemeClr val="dk1"/>
              </a:buClr>
              <a:buSzPts val="1100"/>
              <a:buFont typeface="Arial"/>
              <a:buNone/>
            </a:pPr>
            <a:r>
              <a:rPr lang="en-ZA" sz="2400"/>
              <a:t>1. We begin by selecting a range of k values (for example, 1 to 10).</a:t>
            </a:r>
            <a:endParaRPr sz="2400"/>
          </a:p>
          <a:p>
            <a:pPr indent="0" lvl="0" marL="457200" rtl="0" algn="l">
              <a:spcBef>
                <a:spcPts val="0"/>
              </a:spcBef>
              <a:spcAft>
                <a:spcPts val="0"/>
              </a:spcAft>
              <a:buClr>
                <a:schemeClr val="dk1"/>
              </a:buClr>
              <a:buSzPts val="1100"/>
              <a:buFont typeface="Arial"/>
              <a:buNone/>
            </a:pPr>
            <a:r>
              <a:t/>
            </a:r>
            <a:endParaRPr sz="2400"/>
          </a:p>
          <a:p>
            <a:pPr indent="0" lvl="0" marL="457200" rtl="0" algn="l">
              <a:spcBef>
                <a:spcPts val="0"/>
              </a:spcBef>
              <a:spcAft>
                <a:spcPts val="0"/>
              </a:spcAft>
              <a:buClr>
                <a:schemeClr val="dk1"/>
              </a:buClr>
              <a:buSzPts val="1100"/>
              <a:buFont typeface="Arial"/>
              <a:buNone/>
            </a:pPr>
            <a:r>
              <a:rPr lang="en-ZA" sz="2400"/>
              <a:t>2. For each k, calculate WCSS (Within-Cluster Sum of Squares), which shows how close the data points are to their cluster centroids:</a:t>
            </a:r>
            <a:endParaRPr sz="2400"/>
          </a:p>
          <a:p>
            <a:pPr indent="0" lvl="0" marL="457200" rtl="0" algn="l">
              <a:lnSpc>
                <a:spcPct val="90000"/>
              </a:lnSpc>
              <a:spcBef>
                <a:spcPts val="0"/>
              </a:spcBef>
              <a:spcAft>
                <a:spcPts val="0"/>
              </a:spcAft>
              <a:buNone/>
            </a:pPr>
            <a:r>
              <a:t/>
            </a:r>
            <a:endParaRPr sz="2400"/>
          </a:p>
          <a:p>
            <a:pPr indent="0" lvl="0" marL="457200" rtl="0" algn="l">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224" name="Google Shape;224;g3f100ad7d2a_0_6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25" name="Google Shape;225;g3f100ad7d2a_0_62"/>
          <p:cNvPicPr preferRelativeResize="0"/>
          <p:nvPr/>
        </p:nvPicPr>
        <p:blipFill>
          <a:blip r:embed="rId5">
            <a:alphaModFix/>
          </a:blip>
          <a:stretch>
            <a:fillRect/>
          </a:stretch>
        </p:blipFill>
        <p:spPr>
          <a:xfrm>
            <a:off x="3280675" y="4398250"/>
            <a:ext cx="2543175" cy="666750"/>
          </a:xfrm>
          <a:prstGeom prst="rect">
            <a:avLst/>
          </a:prstGeom>
          <a:noFill/>
          <a:ln>
            <a:noFill/>
          </a:ln>
        </p:spPr>
      </p:pic>
      <p:sp>
        <p:nvSpPr>
          <p:cNvPr id="226" name="Google Shape;226;g3f100ad7d2a_0_62"/>
          <p:cNvSpPr txBox="1"/>
          <p:nvPr/>
        </p:nvSpPr>
        <p:spPr>
          <a:xfrm>
            <a:off x="6672825" y="4418750"/>
            <a:ext cx="5529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ZA" sz="1200">
                <a:solidFill>
                  <a:schemeClr val="dk1"/>
                </a:solidFill>
              </a:rPr>
              <a:t>  = </a:t>
            </a:r>
            <a:r>
              <a:rPr lang="en-ZA" sz="1200">
                <a:solidFill>
                  <a:schemeClr val="dk1"/>
                </a:solidFill>
              </a:rPr>
              <a:t>number</a:t>
            </a:r>
            <a:r>
              <a:rPr lang="en-ZA" sz="1200">
                <a:solidFill>
                  <a:schemeClr val="dk1"/>
                </a:solidFill>
              </a:rPr>
              <a:t> of clusters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ZA" sz="1200">
                <a:solidFill>
                  <a:schemeClr val="dk1"/>
                </a:solidFill>
              </a:rPr>
              <a:t>= the set of point belonging to cluster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ZA" sz="1200">
                <a:solidFill>
                  <a:schemeClr val="dk1"/>
                </a:solidFill>
              </a:rPr>
              <a:t>= a data point in cluster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ZA" sz="1200">
                <a:solidFill>
                  <a:schemeClr val="dk1"/>
                </a:solidFill>
              </a:rPr>
              <a:t>= the centroid (mean) of cluster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ZA" sz="1200">
                <a:solidFill>
                  <a:schemeClr val="dk1"/>
                </a:solidFill>
              </a:rPr>
              <a:t>= squared Euclidean distance between point x and its cluster </a:t>
            </a:r>
            <a:r>
              <a:rPr lang="en-ZA" sz="1200">
                <a:solidFill>
                  <a:schemeClr val="dk1"/>
                </a:solidFill>
              </a:rPr>
              <a:t>centroid</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pic>
        <p:nvPicPr>
          <p:cNvPr id="227" name="Google Shape;227;g3f100ad7d2a_0_62"/>
          <p:cNvPicPr preferRelativeResize="0"/>
          <p:nvPr/>
        </p:nvPicPr>
        <p:blipFill>
          <a:blip r:embed="rId6">
            <a:alphaModFix/>
          </a:blip>
          <a:stretch>
            <a:fillRect/>
          </a:stretch>
        </p:blipFill>
        <p:spPr>
          <a:xfrm>
            <a:off x="6565075" y="4431950"/>
            <a:ext cx="209550" cy="342900"/>
          </a:xfrm>
          <a:prstGeom prst="rect">
            <a:avLst/>
          </a:prstGeom>
          <a:noFill/>
          <a:ln>
            <a:noFill/>
          </a:ln>
        </p:spPr>
      </p:pic>
      <p:pic>
        <p:nvPicPr>
          <p:cNvPr id="228" name="Google Shape;228;g3f100ad7d2a_0_62"/>
          <p:cNvPicPr preferRelativeResize="0"/>
          <p:nvPr/>
        </p:nvPicPr>
        <p:blipFill>
          <a:blip r:embed="rId7">
            <a:alphaModFix/>
          </a:blip>
          <a:stretch>
            <a:fillRect/>
          </a:stretch>
        </p:blipFill>
        <p:spPr>
          <a:xfrm>
            <a:off x="6565069" y="4832179"/>
            <a:ext cx="209550" cy="232833"/>
          </a:xfrm>
          <a:prstGeom prst="rect">
            <a:avLst/>
          </a:prstGeom>
          <a:noFill/>
          <a:ln>
            <a:noFill/>
          </a:ln>
        </p:spPr>
      </p:pic>
      <p:pic>
        <p:nvPicPr>
          <p:cNvPr id="229" name="Google Shape;229;g3f100ad7d2a_0_62"/>
          <p:cNvPicPr preferRelativeResize="0"/>
          <p:nvPr/>
        </p:nvPicPr>
        <p:blipFill>
          <a:blip r:embed="rId8">
            <a:alphaModFix/>
          </a:blip>
          <a:stretch>
            <a:fillRect/>
          </a:stretch>
        </p:blipFill>
        <p:spPr>
          <a:xfrm>
            <a:off x="6406125" y="5199088"/>
            <a:ext cx="266700" cy="314325"/>
          </a:xfrm>
          <a:prstGeom prst="rect">
            <a:avLst/>
          </a:prstGeom>
          <a:noFill/>
          <a:ln>
            <a:noFill/>
          </a:ln>
        </p:spPr>
      </p:pic>
      <p:pic>
        <p:nvPicPr>
          <p:cNvPr id="230" name="Google Shape;230;g3f100ad7d2a_0_62"/>
          <p:cNvPicPr preferRelativeResize="0"/>
          <p:nvPr/>
        </p:nvPicPr>
        <p:blipFill>
          <a:blip r:embed="rId9">
            <a:alphaModFix/>
          </a:blip>
          <a:stretch>
            <a:fillRect/>
          </a:stretch>
        </p:blipFill>
        <p:spPr>
          <a:xfrm>
            <a:off x="6406125" y="5513413"/>
            <a:ext cx="266700" cy="314325"/>
          </a:xfrm>
          <a:prstGeom prst="rect">
            <a:avLst/>
          </a:prstGeom>
          <a:noFill/>
          <a:ln>
            <a:noFill/>
          </a:ln>
        </p:spPr>
      </p:pic>
      <p:pic>
        <p:nvPicPr>
          <p:cNvPr id="231" name="Google Shape;231;g3f100ad7d2a_0_62"/>
          <p:cNvPicPr preferRelativeResize="0"/>
          <p:nvPr/>
        </p:nvPicPr>
        <p:blipFill>
          <a:blip r:embed="rId10">
            <a:alphaModFix/>
          </a:blip>
          <a:stretch>
            <a:fillRect/>
          </a:stretch>
        </p:blipFill>
        <p:spPr>
          <a:xfrm>
            <a:off x="5701275" y="5937663"/>
            <a:ext cx="971550" cy="352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g3f100ad7d2a_0_16"/>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37" name="Google Shape;237;g3f100ad7d2a_0_16"/>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The Elbow Method Example</a:t>
            </a:r>
            <a:endParaRPr/>
          </a:p>
        </p:txBody>
      </p:sp>
      <p:sp>
        <p:nvSpPr>
          <p:cNvPr id="238" name="Google Shape;238;g3f100ad7d2a_0_16"/>
          <p:cNvSpPr txBox="1"/>
          <p:nvPr>
            <p:ph idx="1" type="body"/>
          </p:nvPr>
        </p:nvSpPr>
        <p:spPr>
          <a:xfrm>
            <a:off x="2127000" y="1929650"/>
            <a:ext cx="10065000" cy="5184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ZA" sz="2400"/>
              <a:t>Suppose we have these 2D data points:</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rPr b="1" lang="en-ZA" sz="2400"/>
              <a:t>Step 1: </a:t>
            </a:r>
            <a:endParaRPr b="1" sz="2400"/>
          </a:p>
          <a:p>
            <a:pPr indent="0" lvl="0" marL="0" rtl="0" algn="l">
              <a:lnSpc>
                <a:spcPct val="90000"/>
              </a:lnSpc>
              <a:spcBef>
                <a:spcPts val="0"/>
              </a:spcBef>
              <a:spcAft>
                <a:spcPts val="0"/>
              </a:spcAft>
              <a:buNone/>
            </a:pPr>
            <a:r>
              <a:rPr lang="en-ZA" sz="2400"/>
              <a:t>We test a range of k values. Suppose when k=2, k-means grouped them as:</a:t>
            </a:r>
            <a:endParaRPr sz="2400"/>
          </a:p>
          <a:p>
            <a:pPr indent="0" lvl="0" marL="0" rtl="0" algn="l">
              <a:spcBef>
                <a:spcPts val="0"/>
              </a:spcBef>
              <a:spcAft>
                <a:spcPts val="0"/>
              </a:spcAft>
              <a:buClr>
                <a:schemeClr val="dk1"/>
              </a:buClr>
              <a:buSzPts val="1100"/>
              <a:buFont typeface="Arial"/>
              <a:buNone/>
            </a:pPr>
            <a:r>
              <a:rPr lang="en-ZA" sz="2400"/>
              <a:t>Cluster 1: A(1,2), B(2,1), C(2,3)</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ZA" sz="2400"/>
              <a:t>Cluster 2: D(8,8), E(9,8), F(8,9)</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p:txBody>
      </p:sp>
      <p:pic>
        <p:nvPicPr>
          <p:cNvPr id="239" name="Google Shape;239;g3f100ad7d2a_0_16"/>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40" name="Google Shape;240;g3f100ad7d2a_0_16"/>
          <p:cNvPicPr preferRelativeResize="0"/>
          <p:nvPr/>
        </p:nvPicPr>
        <p:blipFill>
          <a:blip r:embed="rId5">
            <a:alphaModFix/>
          </a:blip>
          <a:stretch>
            <a:fillRect/>
          </a:stretch>
        </p:blipFill>
        <p:spPr>
          <a:xfrm>
            <a:off x="4177025" y="2558325"/>
            <a:ext cx="3837925" cy="1758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g3f100ad7d2a_0_27"/>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46" name="Google Shape;246;g3f100ad7d2a_0_27"/>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The Elbow Method cont.</a:t>
            </a:r>
            <a:endParaRPr/>
          </a:p>
        </p:txBody>
      </p:sp>
      <p:sp>
        <p:nvSpPr>
          <p:cNvPr id="247" name="Google Shape;247;g3f100ad7d2a_0_27"/>
          <p:cNvSpPr txBox="1"/>
          <p:nvPr>
            <p:ph idx="1" type="body"/>
          </p:nvPr>
        </p:nvSpPr>
        <p:spPr>
          <a:xfrm>
            <a:off x="2127000" y="1929650"/>
            <a:ext cx="10065000" cy="518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2:</a:t>
            </a:r>
            <a:r>
              <a:rPr lang="en-ZA" sz="2400"/>
              <a:t> Compute the Within-Cluster Sum of Squares (WCSS). </a:t>
            </a:r>
            <a:endParaRPr sz="2400"/>
          </a:p>
          <a:p>
            <a:pPr indent="0" lvl="0" marL="0" rtl="0" algn="l">
              <a:spcBef>
                <a:spcPts val="0"/>
              </a:spcBef>
              <a:spcAft>
                <a:spcPts val="0"/>
              </a:spcAft>
              <a:buNone/>
            </a:pPr>
            <a:r>
              <a:t/>
            </a:r>
            <a:endParaRPr sz="2400"/>
          </a:p>
          <a:p>
            <a:pPr indent="-381000" lvl="0" marL="457200" rtl="0" algn="l">
              <a:spcBef>
                <a:spcPts val="0"/>
              </a:spcBef>
              <a:spcAft>
                <a:spcPts val="0"/>
              </a:spcAft>
              <a:buSzPts val="2400"/>
              <a:buAutoNum type="alphaLcParenR"/>
            </a:pPr>
            <a:r>
              <a:rPr lang="en-ZA" sz="2400"/>
              <a:t>Find the centroid of each cluster:</a:t>
            </a:r>
            <a:endParaRPr sz="2400"/>
          </a:p>
          <a:p>
            <a:pPr indent="0" lvl="0" marL="0" rtl="0" algn="l">
              <a:spcBef>
                <a:spcPts val="0"/>
              </a:spcBef>
              <a:spcAft>
                <a:spcPts val="0"/>
              </a:spcAft>
              <a:buNone/>
            </a:pPr>
            <a:r>
              <a:rPr lang="en-ZA" sz="2400"/>
              <a:t>Cluster 1: A(1,2), B(2,1), C(2,3)</a:t>
            </a:r>
            <a:endParaRPr sz="2400"/>
          </a:p>
          <a:p>
            <a:pPr indent="0" lvl="0" marL="0" rtl="0" algn="l">
              <a:spcBef>
                <a:spcPts val="0"/>
              </a:spcBef>
              <a:spcAft>
                <a:spcPts val="0"/>
              </a:spcAft>
              <a:buNone/>
            </a:pPr>
            <a:r>
              <a:t/>
            </a:r>
            <a:endParaRPr sz="2400"/>
          </a:p>
          <a:p>
            <a:pPr indent="0" lvl="0" marL="0" rtl="0" algn="l">
              <a:lnSpc>
                <a:spcPct val="90000"/>
              </a:lnSpc>
              <a:spcBef>
                <a:spcPts val="0"/>
              </a:spcBef>
              <a:spcAft>
                <a:spcPts val="0"/>
              </a:spcAft>
              <a:buNone/>
            </a:pPr>
            <a:r>
              <a:rPr lang="en-ZA" sz="2400"/>
              <a:t>                                                                        Centroid 1 = (1.667, 2)</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rPr lang="en-ZA" sz="2400"/>
              <a:t>Cluster 2: D(8,8), E(9,8), F(8,9)</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rPr lang="en-ZA" sz="2400"/>
              <a:t>                                                                     Centroid 2 = (8.333, 8.333)</a:t>
            </a:r>
            <a:endParaRPr sz="2400"/>
          </a:p>
        </p:txBody>
      </p:sp>
      <p:pic>
        <p:nvPicPr>
          <p:cNvPr id="248" name="Google Shape;248;g3f100ad7d2a_0_27"/>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49" name="Google Shape;249;g3f100ad7d2a_0_27"/>
          <p:cNvPicPr preferRelativeResize="0"/>
          <p:nvPr/>
        </p:nvPicPr>
        <p:blipFill>
          <a:blip r:embed="rId5">
            <a:alphaModFix/>
          </a:blip>
          <a:stretch>
            <a:fillRect/>
          </a:stretch>
        </p:blipFill>
        <p:spPr>
          <a:xfrm>
            <a:off x="4263288" y="3526350"/>
            <a:ext cx="3971925" cy="571500"/>
          </a:xfrm>
          <a:prstGeom prst="rect">
            <a:avLst/>
          </a:prstGeom>
          <a:noFill/>
          <a:ln>
            <a:noFill/>
          </a:ln>
        </p:spPr>
      </p:pic>
      <p:pic>
        <p:nvPicPr>
          <p:cNvPr id="250" name="Google Shape;250;g3f100ad7d2a_0_27"/>
          <p:cNvPicPr preferRelativeResize="0"/>
          <p:nvPr/>
        </p:nvPicPr>
        <p:blipFill>
          <a:blip r:embed="rId6">
            <a:alphaModFix/>
          </a:blip>
          <a:stretch>
            <a:fillRect/>
          </a:stretch>
        </p:blipFill>
        <p:spPr>
          <a:xfrm>
            <a:off x="3462388" y="4963100"/>
            <a:ext cx="4371975" cy="571500"/>
          </a:xfrm>
          <a:prstGeom prst="rect">
            <a:avLst/>
          </a:prstGeom>
          <a:noFill/>
          <a:ln>
            <a:noFill/>
          </a:ln>
        </p:spPr>
      </p:pic>
      <p:pic>
        <p:nvPicPr>
          <p:cNvPr id="251" name="Google Shape;251;g3f100ad7d2a_0_27"/>
          <p:cNvPicPr preferRelativeResize="0"/>
          <p:nvPr/>
        </p:nvPicPr>
        <p:blipFill>
          <a:blip r:embed="rId7">
            <a:alphaModFix/>
          </a:blip>
          <a:stretch>
            <a:fillRect/>
          </a:stretch>
        </p:blipFill>
        <p:spPr>
          <a:xfrm>
            <a:off x="2126997" y="3516797"/>
            <a:ext cx="1538156" cy="590600"/>
          </a:xfrm>
          <a:prstGeom prst="rect">
            <a:avLst/>
          </a:prstGeom>
          <a:noFill/>
          <a:ln>
            <a:noFill/>
          </a:ln>
        </p:spPr>
      </p:pic>
      <p:pic>
        <p:nvPicPr>
          <p:cNvPr id="252" name="Google Shape;252;g3f100ad7d2a_0_27"/>
          <p:cNvPicPr preferRelativeResize="0"/>
          <p:nvPr/>
        </p:nvPicPr>
        <p:blipFill>
          <a:blip r:embed="rId7">
            <a:alphaModFix/>
          </a:blip>
          <a:stretch>
            <a:fillRect/>
          </a:stretch>
        </p:blipFill>
        <p:spPr>
          <a:xfrm>
            <a:off x="1924247" y="4953547"/>
            <a:ext cx="1538156" cy="590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g3f100ad7d2a_0_4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58" name="Google Shape;258;g3f100ad7d2a_0_41"/>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The Elbow Method cont.</a:t>
            </a:r>
            <a:endParaRPr/>
          </a:p>
        </p:txBody>
      </p:sp>
      <p:sp>
        <p:nvSpPr>
          <p:cNvPr id="259" name="Google Shape;259;g3f100ad7d2a_0_41"/>
          <p:cNvSpPr txBox="1"/>
          <p:nvPr>
            <p:ph idx="1" type="body"/>
          </p:nvPr>
        </p:nvSpPr>
        <p:spPr>
          <a:xfrm>
            <a:off x="1924250" y="2021450"/>
            <a:ext cx="10065000" cy="5184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ZA" sz="2400"/>
              <a:t>Step 2b) </a:t>
            </a:r>
            <a:r>
              <a:rPr lang="en-ZA" sz="2400"/>
              <a:t>Calculate the squared euclidean distance of each point to its centroid:</a:t>
            </a:r>
            <a:endParaRPr sz="2400"/>
          </a:p>
          <a:p>
            <a:pPr indent="0" lvl="0" marL="0" rtl="0" algn="l">
              <a:lnSpc>
                <a:spcPct val="90000"/>
              </a:lnSpc>
              <a:spcBef>
                <a:spcPts val="0"/>
              </a:spcBef>
              <a:spcAft>
                <a:spcPts val="0"/>
              </a:spcAft>
              <a:buNone/>
            </a:pPr>
            <a:r>
              <a:rPr b="1" lang="en-ZA" sz="2400"/>
              <a:t>Cluster 1, Centroid 1 = (1.667, 2)</a:t>
            </a:r>
            <a:endParaRPr b="1"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rPr lang="en-ZA" sz="2400"/>
              <a:t>WCSS₁ = 0.444 + 1.111 + 1.111 = 2.667</a:t>
            </a:r>
            <a:endParaRPr sz="2400"/>
          </a:p>
          <a:p>
            <a:pPr indent="0" lvl="0" marL="0" rtl="0" algn="l">
              <a:lnSpc>
                <a:spcPct val="90000"/>
              </a:lnSpc>
              <a:spcBef>
                <a:spcPts val="0"/>
              </a:spcBef>
              <a:spcAft>
                <a:spcPts val="0"/>
              </a:spcAft>
              <a:buNone/>
            </a:pPr>
            <a:r>
              <a:rPr b="1" lang="en-ZA" sz="2400"/>
              <a:t>Cluster 2, Centroid 2 = (8.333, 8.333)</a:t>
            </a:r>
            <a:endParaRPr b="1"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rPr lang="en-ZA" sz="2400"/>
              <a:t>WCSS₂ = 0.222 + 0.556 + 0.556 = 1.333</a:t>
            </a:r>
            <a:endParaRPr sz="2400"/>
          </a:p>
          <a:p>
            <a:pPr indent="0" lvl="0" marL="0" rtl="0" algn="l">
              <a:lnSpc>
                <a:spcPct val="90000"/>
              </a:lnSpc>
              <a:spcBef>
                <a:spcPts val="0"/>
              </a:spcBef>
              <a:spcAft>
                <a:spcPts val="0"/>
              </a:spcAft>
              <a:buNone/>
            </a:pPr>
            <a:r>
              <a:rPr b="1" lang="en-ZA" sz="2400"/>
              <a:t>Total WCSS:</a:t>
            </a:r>
            <a:endParaRPr b="1" sz="2400"/>
          </a:p>
          <a:p>
            <a:pPr indent="0" lvl="0" marL="0" rtl="0" algn="l">
              <a:lnSpc>
                <a:spcPct val="90000"/>
              </a:lnSpc>
              <a:spcBef>
                <a:spcPts val="0"/>
              </a:spcBef>
              <a:spcAft>
                <a:spcPts val="0"/>
              </a:spcAft>
              <a:buNone/>
            </a:pPr>
            <a:r>
              <a:rPr lang="en-ZA" sz="2400"/>
              <a:t>WCSS=WCSS₁+ WCSS₂ =2.667+1.333= 4.0 </a:t>
            </a:r>
            <a:endParaRPr sz="2400"/>
          </a:p>
        </p:txBody>
      </p:sp>
      <p:pic>
        <p:nvPicPr>
          <p:cNvPr id="260" name="Google Shape;260;g3f100ad7d2a_0_4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61" name="Google Shape;261;g3f100ad7d2a_0_41"/>
          <p:cNvPicPr preferRelativeResize="0"/>
          <p:nvPr/>
        </p:nvPicPr>
        <p:blipFill>
          <a:blip r:embed="rId5">
            <a:alphaModFix/>
          </a:blip>
          <a:stretch>
            <a:fillRect/>
          </a:stretch>
        </p:blipFill>
        <p:spPr>
          <a:xfrm>
            <a:off x="3108263" y="3120188"/>
            <a:ext cx="4829175" cy="885825"/>
          </a:xfrm>
          <a:prstGeom prst="rect">
            <a:avLst/>
          </a:prstGeom>
          <a:noFill/>
          <a:ln>
            <a:noFill/>
          </a:ln>
        </p:spPr>
      </p:pic>
      <p:pic>
        <p:nvPicPr>
          <p:cNvPr id="262" name="Google Shape;262;g3f100ad7d2a_0_41"/>
          <p:cNvPicPr preferRelativeResize="0"/>
          <p:nvPr/>
        </p:nvPicPr>
        <p:blipFill>
          <a:blip r:embed="rId6">
            <a:alphaModFix/>
          </a:blip>
          <a:stretch>
            <a:fillRect/>
          </a:stretch>
        </p:blipFill>
        <p:spPr>
          <a:xfrm>
            <a:off x="3128363" y="4721650"/>
            <a:ext cx="4789000" cy="885825"/>
          </a:xfrm>
          <a:prstGeom prst="rect">
            <a:avLst/>
          </a:prstGeom>
          <a:noFill/>
          <a:ln>
            <a:noFill/>
          </a:ln>
        </p:spPr>
      </p:pic>
      <p:pic>
        <p:nvPicPr>
          <p:cNvPr id="263" name="Google Shape;263;g3f100ad7d2a_0_41"/>
          <p:cNvPicPr preferRelativeResize="0"/>
          <p:nvPr/>
        </p:nvPicPr>
        <p:blipFill>
          <a:blip r:embed="rId7">
            <a:alphaModFix/>
          </a:blip>
          <a:stretch>
            <a:fillRect/>
          </a:stretch>
        </p:blipFill>
        <p:spPr>
          <a:xfrm>
            <a:off x="8460774" y="3007580"/>
            <a:ext cx="3145325" cy="498070"/>
          </a:xfrm>
          <a:prstGeom prst="rect">
            <a:avLst/>
          </a:prstGeom>
          <a:noFill/>
          <a:ln>
            <a:noFill/>
          </a:ln>
        </p:spPr>
      </p:pic>
      <p:sp>
        <p:nvSpPr>
          <p:cNvPr id="264" name="Google Shape;264;g3f100ad7d2a_0_41"/>
          <p:cNvSpPr txBox="1"/>
          <p:nvPr/>
        </p:nvSpPr>
        <p:spPr>
          <a:xfrm>
            <a:off x="8873100" y="6137300"/>
            <a:ext cx="273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ZA" sz="1200">
                <a:solidFill>
                  <a:schemeClr val="dk1"/>
                </a:solidFill>
              </a:rPr>
              <a:t>That is the quantity the Elbow Method plots against different values of K.</a:t>
            </a:r>
            <a:endParaRPr sz="1200">
              <a:solidFill>
                <a:schemeClr val="dk1"/>
              </a:solidFill>
            </a:endParaRPr>
          </a:p>
        </p:txBody>
      </p:sp>
      <p:sp>
        <p:nvSpPr>
          <p:cNvPr id="265" name="Google Shape;265;g3f100ad7d2a_0_41"/>
          <p:cNvSpPr/>
          <p:nvPr/>
        </p:nvSpPr>
        <p:spPr>
          <a:xfrm>
            <a:off x="8186175" y="6334400"/>
            <a:ext cx="552900" cy="344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g3f100ad7d2a_0_79"/>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71" name="Google Shape;271;g3f100ad7d2a_0_79"/>
          <p:cNvSpPr txBox="1"/>
          <p:nvPr>
            <p:ph type="title"/>
          </p:nvPr>
        </p:nvSpPr>
        <p:spPr>
          <a:xfrm>
            <a:off x="3280673" y="8472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The Elbow Method cont.</a:t>
            </a:r>
            <a:endParaRPr/>
          </a:p>
        </p:txBody>
      </p:sp>
      <p:sp>
        <p:nvSpPr>
          <p:cNvPr id="272" name="Google Shape;272;g3f100ad7d2a_0_79"/>
          <p:cNvSpPr txBox="1"/>
          <p:nvPr>
            <p:ph idx="1" type="body"/>
          </p:nvPr>
        </p:nvSpPr>
        <p:spPr>
          <a:xfrm>
            <a:off x="1924250" y="2021450"/>
            <a:ext cx="10065000" cy="5184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ZA" sz="2400"/>
              <a:t>Here's an example of the elbow method plot, showing WCSS against different values of k.</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a:p>
            <a:pPr indent="0" lvl="0" marL="0" rtl="0" algn="l">
              <a:lnSpc>
                <a:spcPct val="90000"/>
              </a:lnSpc>
              <a:spcBef>
                <a:spcPts val="0"/>
              </a:spcBef>
              <a:spcAft>
                <a:spcPts val="0"/>
              </a:spcAft>
              <a:buNone/>
            </a:pPr>
            <a:r>
              <a:t/>
            </a:r>
            <a:endParaRPr sz="2400"/>
          </a:p>
        </p:txBody>
      </p:sp>
      <p:pic>
        <p:nvPicPr>
          <p:cNvPr id="273" name="Google Shape;273;g3f100ad7d2a_0_79"/>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74" name="Google Shape;274;g3f100ad7d2a_0_79"/>
          <p:cNvPicPr preferRelativeResize="0"/>
          <p:nvPr/>
        </p:nvPicPr>
        <p:blipFill>
          <a:blip r:embed="rId5">
            <a:alphaModFix/>
          </a:blip>
          <a:stretch>
            <a:fillRect/>
          </a:stretch>
        </p:blipFill>
        <p:spPr>
          <a:xfrm>
            <a:off x="3569472" y="2719622"/>
            <a:ext cx="6774576" cy="280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g3f2b97712c9_1_189"/>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80" name="Google Shape;280;g3f2b97712c9_1_189"/>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Advantages.</a:t>
            </a:r>
            <a:endParaRPr/>
          </a:p>
        </p:txBody>
      </p:sp>
      <p:sp>
        <p:nvSpPr>
          <p:cNvPr id="281" name="Google Shape;281;g3f2b97712c9_1_189"/>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sz="2400"/>
              <a:t>See python code implementation </a:t>
            </a:r>
            <a:r>
              <a:rPr lang="en-ZA" sz="2400" u="sng">
                <a:solidFill>
                  <a:schemeClr val="hlink"/>
                </a:solidFill>
                <a:hlinkClick r:id="rId4"/>
              </a:rPr>
              <a:t>here.</a:t>
            </a:r>
            <a:endParaRPr sz="2400"/>
          </a:p>
          <a:p>
            <a:pPr indent="0" lvl="0" marL="0" rtl="0" algn="l">
              <a:spcBef>
                <a:spcPts val="0"/>
              </a:spcBef>
              <a:spcAft>
                <a:spcPts val="0"/>
              </a:spcAft>
              <a:buNone/>
            </a:pPr>
            <a:r>
              <a:t/>
            </a:r>
            <a:endParaRPr sz="2400"/>
          </a:p>
          <a:p>
            <a:pPr indent="-381000" lvl="0" marL="457200" rtl="0" algn="l">
              <a:spcBef>
                <a:spcPts val="0"/>
              </a:spcBef>
              <a:spcAft>
                <a:spcPts val="0"/>
              </a:spcAft>
              <a:buSzPts val="2400"/>
              <a:buAutoNum type="arabicPeriod"/>
            </a:pPr>
            <a:r>
              <a:rPr b="1" lang="en-ZA" sz="2400"/>
              <a:t>Advantages</a:t>
            </a:r>
            <a:endParaRPr b="1" sz="2400"/>
          </a:p>
          <a:p>
            <a:pPr indent="0" lvl="0" marL="457200" rtl="0" algn="l">
              <a:spcBef>
                <a:spcPts val="0"/>
              </a:spcBef>
              <a:spcAft>
                <a:spcPts val="0"/>
              </a:spcAft>
              <a:buNone/>
            </a:pPr>
            <a:r>
              <a:t/>
            </a:r>
            <a:endParaRPr sz="2400"/>
          </a:p>
          <a:p>
            <a:pPr indent="0" lvl="0" marL="457200" rtl="0" algn="l">
              <a:spcBef>
                <a:spcPts val="0"/>
              </a:spcBef>
              <a:spcAft>
                <a:spcPts val="0"/>
              </a:spcAft>
              <a:buNone/>
            </a:pPr>
            <a:r>
              <a:rPr lang="en-ZA" sz="2400"/>
              <a:t>Relatively simple to implement.</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rPr lang="en-ZA" sz="2400"/>
              <a:t>Scales to large data sets.</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rPr lang="en-ZA" sz="2400"/>
              <a:t>Always converges.</a:t>
            </a:r>
            <a:endParaRPr sz="2400"/>
          </a:p>
          <a:p>
            <a:pPr indent="0" lvl="0" marL="45720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282" name="Google Shape;282;g3f2b97712c9_1_189"/>
          <p:cNvPicPr preferRelativeResize="0"/>
          <p:nvPr/>
        </p:nvPicPr>
        <p:blipFill rotWithShape="1">
          <a:blip r:embed="rId5">
            <a:alphaModFix/>
          </a:blip>
          <a:srcRect b="0" l="0" r="0" t="0"/>
          <a:stretch/>
        </p:blipFill>
        <p:spPr>
          <a:xfrm>
            <a:off x="629723" y="991034"/>
            <a:ext cx="1294526" cy="590587"/>
          </a:xfrm>
          <a:prstGeom prst="rect">
            <a:avLst/>
          </a:prstGeom>
          <a:noFill/>
          <a:ln>
            <a:noFill/>
          </a:ln>
        </p:spPr>
      </p:pic>
      <p:pic>
        <p:nvPicPr>
          <p:cNvPr id="283" name="Google Shape;283;g3f2b97712c9_1_189" title="check.png"/>
          <p:cNvPicPr preferRelativeResize="0"/>
          <p:nvPr/>
        </p:nvPicPr>
        <p:blipFill>
          <a:blip r:embed="rId6">
            <a:alphaModFix/>
          </a:blip>
          <a:stretch>
            <a:fillRect/>
          </a:stretch>
        </p:blipFill>
        <p:spPr>
          <a:xfrm>
            <a:off x="2133075" y="3455050"/>
            <a:ext cx="386374" cy="386374"/>
          </a:xfrm>
          <a:prstGeom prst="rect">
            <a:avLst/>
          </a:prstGeom>
          <a:noFill/>
          <a:ln>
            <a:noFill/>
          </a:ln>
        </p:spPr>
      </p:pic>
      <p:pic>
        <p:nvPicPr>
          <p:cNvPr id="284" name="Google Shape;284;g3f2b97712c9_1_189" title="check.png"/>
          <p:cNvPicPr preferRelativeResize="0"/>
          <p:nvPr/>
        </p:nvPicPr>
        <p:blipFill>
          <a:blip r:embed="rId6">
            <a:alphaModFix/>
          </a:blip>
          <a:stretch>
            <a:fillRect/>
          </a:stretch>
        </p:blipFill>
        <p:spPr>
          <a:xfrm>
            <a:off x="2133075" y="4086938"/>
            <a:ext cx="386374" cy="386374"/>
          </a:xfrm>
          <a:prstGeom prst="rect">
            <a:avLst/>
          </a:prstGeom>
          <a:noFill/>
          <a:ln>
            <a:noFill/>
          </a:ln>
        </p:spPr>
      </p:pic>
      <p:pic>
        <p:nvPicPr>
          <p:cNvPr id="285" name="Google Shape;285;g3f2b97712c9_1_189" title="check.png"/>
          <p:cNvPicPr preferRelativeResize="0"/>
          <p:nvPr/>
        </p:nvPicPr>
        <p:blipFill>
          <a:blip r:embed="rId6">
            <a:alphaModFix/>
          </a:blip>
          <a:stretch>
            <a:fillRect/>
          </a:stretch>
        </p:blipFill>
        <p:spPr>
          <a:xfrm>
            <a:off x="2133075" y="4808725"/>
            <a:ext cx="386374" cy="3863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g3f2b97712c9_1_203"/>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291" name="Google Shape;291;g3f2b97712c9_1_203"/>
          <p:cNvSpPr txBox="1"/>
          <p:nvPr>
            <p:ph type="title"/>
          </p:nvPr>
        </p:nvSpPr>
        <p:spPr>
          <a:xfrm>
            <a:off x="3280673" y="1129656"/>
            <a:ext cx="8543400" cy="117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K-means Clustering Disadvanges.</a:t>
            </a:r>
            <a:endParaRPr/>
          </a:p>
        </p:txBody>
      </p:sp>
      <p:sp>
        <p:nvSpPr>
          <p:cNvPr id="292" name="Google Shape;292;g3f2b97712c9_1_203"/>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2. Disadvantages</a:t>
            </a:r>
            <a:endParaRPr b="1" sz="2400"/>
          </a:p>
          <a:p>
            <a:pPr indent="0" lvl="0" marL="457200" rtl="0" algn="l">
              <a:spcBef>
                <a:spcPts val="0"/>
              </a:spcBef>
              <a:spcAft>
                <a:spcPts val="0"/>
              </a:spcAft>
              <a:buNone/>
            </a:pPr>
            <a:r>
              <a:t/>
            </a:r>
            <a:endParaRPr sz="2400"/>
          </a:p>
          <a:p>
            <a:pPr indent="0" lvl="0" marL="0" rtl="0" algn="l">
              <a:spcBef>
                <a:spcPts val="0"/>
              </a:spcBef>
              <a:spcAft>
                <a:spcPts val="0"/>
              </a:spcAft>
              <a:buNone/>
            </a:pPr>
            <a:r>
              <a:rPr lang="en-ZA" sz="2400"/>
              <a:t>Manual K Selection</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Sensitivity to Initial Centroids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Vulnerable to Outliers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Curse of Dimensionality</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293" name="Google Shape;293;g3f2b97712c9_1_203"/>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294" name="Google Shape;294;g3f2b97712c9_1_203" title="cross.png"/>
          <p:cNvPicPr preferRelativeResize="0"/>
          <p:nvPr/>
        </p:nvPicPr>
        <p:blipFill>
          <a:blip r:embed="rId5">
            <a:alphaModFix/>
          </a:blip>
          <a:stretch>
            <a:fillRect/>
          </a:stretch>
        </p:blipFill>
        <p:spPr>
          <a:xfrm flipH="1">
            <a:off x="1626950" y="2733888"/>
            <a:ext cx="297300" cy="297300"/>
          </a:xfrm>
          <a:prstGeom prst="rect">
            <a:avLst/>
          </a:prstGeom>
          <a:noFill/>
          <a:ln>
            <a:noFill/>
          </a:ln>
        </p:spPr>
      </p:pic>
      <p:pic>
        <p:nvPicPr>
          <p:cNvPr id="295" name="Google Shape;295;g3f2b97712c9_1_203" title="cross.png"/>
          <p:cNvPicPr preferRelativeResize="0"/>
          <p:nvPr/>
        </p:nvPicPr>
        <p:blipFill>
          <a:blip r:embed="rId5">
            <a:alphaModFix/>
          </a:blip>
          <a:stretch>
            <a:fillRect/>
          </a:stretch>
        </p:blipFill>
        <p:spPr>
          <a:xfrm flipH="1">
            <a:off x="1626950" y="3445675"/>
            <a:ext cx="297300" cy="297300"/>
          </a:xfrm>
          <a:prstGeom prst="rect">
            <a:avLst/>
          </a:prstGeom>
          <a:noFill/>
          <a:ln>
            <a:noFill/>
          </a:ln>
        </p:spPr>
      </p:pic>
      <p:pic>
        <p:nvPicPr>
          <p:cNvPr id="296" name="Google Shape;296;g3f2b97712c9_1_203" title="cross.png"/>
          <p:cNvPicPr preferRelativeResize="0"/>
          <p:nvPr/>
        </p:nvPicPr>
        <p:blipFill>
          <a:blip r:embed="rId5">
            <a:alphaModFix/>
          </a:blip>
          <a:stretch>
            <a:fillRect/>
          </a:stretch>
        </p:blipFill>
        <p:spPr>
          <a:xfrm flipH="1">
            <a:off x="1626950" y="4183450"/>
            <a:ext cx="297300" cy="297300"/>
          </a:xfrm>
          <a:prstGeom prst="rect">
            <a:avLst/>
          </a:prstGeom>
          <a:noFill/>
          <a:ln>
            <a:noFill/>
          </a:ln>
        </p:spPr>
      </p:pic>
      <p:pic>
        <p:nvPicPr>
          <p:cNvPr id="297" name="Google Shape;297;g3f2b97712c9_1_203" title="cross.png"/>
          <p:cNvPicPr preferRelativeResize="0"/>
          <p:nvPr/>
        </p:nvPicPr>
        <p:blipFill>
          <a:blip r:embed="rId5">
            <a:alphaModFix/>
          </a:blip>
          <a:stretch>
            <a:fillRect/>
          </a:stretch>
        </p:blipFill>
        <p:spPr>
          <a:xfrm flipH="1">
            <a:off x="1626950" y="4800200"/>
            <a:ext cx="297300" cy="297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g3f2b97712c9_0_10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03" name="Google Shape;303;g3f2b97712c9_0_101"/>
          <p:cNvSpPr txBox="1"/>
          <p:nvPr>
            <p:ph type="title"/>
          </p:nvPr>
        </p:nvSpPr>
        <p:spPr>
          <a:xfrm>
            <a:off x="2589000" y="513075"/>
            <a:ext cx="9603000" cy="1546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K-Medoids Clustering </a:t>
            </a:r>
            <a:endParaRPr/>
          </a:p>
        </p:txBody>
      </p:sp>
      <p:sp>
        <p:nvSpPr>
          <p:cNvPr id="304" name="Google Shape;304;g3f2b97712c9_0_101"/>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Clr>
                <a:schemeClr val="dk1"/>
              </a:buClr>
              <a:buSzPts val="1100"/>
              <a:buFont typeface="Arial"/>
              <a:buNone/>
            </a:pPr>
            <a:r>
              <a:rPr lang="en-ZA" sz="2400"/>
              <a:t>K-Medoids or Partitioning Around Medoids (PAM) is an unsupervised clustering algorithm that is very similar to K-Means.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ZA" sz="2400"/>
              <a:t>The main difference is:</a:t>
            </a:r>
            <a:endParaRPr sz="2400"/>
          </a:p>
          <a:p>
            <a:pPr indent="0" lvl="0" marL="0" rtl="0" algn="l">
              <a:spcBef>
                <a:spcPts val="0"/>
              </a:spcBef>
              <a:spcAft>
                <a:spcPts val="0"/>
              </a:spcAft>
              <a:buClr>
                <a:schemeClr val="dk1"/>
              </a:buClr>
              <a:buSzPts val="1100"/>
              <a:buFont typeface="Arial"/>
              <a:buNone/>
            </a:pPr>
            <a:r>
              <a:rPr lang="en-ZA" sz="2400"/>
              <a:t>- K-Means represents each cluster by its centroid (mean).</a:t>
            </a:r>
            <a:endParaRPr sz="2400"/>
          </a:p>
          <a:p>
            <a:pPr indent="0" lvl="0" marL="0" rtl="0" algn="l">
              <a:spcBef>
                <a:spcPts val="0"/>
              </a:spcBef>
              <a:spcAft>
                <a:spcPts val="0"/>
              </a:spcAft>
              <a:buClr>
                <a:schemeClr val="dk1"/>
              </a:buClr>
              <a:buSzPts val="1100"/>
              <a:buFont typeface="Arial"/>
              <a:buNone/>
            </a:pPr>
            <a:r>
              <a:rPr lang="en-ZA" sz="2400"/>
              <a:t>- K-Medoids represents each cluster by an actual observation (medoid) from the dataset.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n-ZA" sz="2400"/>
              <a:t>What is a Medoid? A medoid is the observation within a cluster whose total distance to all other observations in that cluster is the smallest.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305" name="Google Shape;305;g3f2b97712c9_0_10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g3f2b97712c9_1_25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11" name="Google Shape;311;g3f2b97712c9_1_252"/>
          <p:cNvSpPr txBox="1"/>
          <p:nvPr>
            <p:ph type="title"/>
          </p:nvPr>
        </p:nvSpPr>
        <p:spPr>
          <a:xfrm>
            <a:off x="2589000" y="513075"/>
            <a:ext cx="9603000" cy="1546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K-Medoids Clustering cont.</a:t>
            </a:r>
            <a:endParaRPr/>
          </a:p>
        </p:txBody>
      </p:sp>
      <p:sp>
        <p:nvSpPr>
          <p:cNvPr id="312" name="Google Shape;312;g3f2b97712c9_1_25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None/>
            </a:pPr>
            <a:r>
              <a:rPr lang="en-ZA" sz="2400"/>
              <a:t>Example: Suppose we have five data points: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0" rtl="0" algn="l">
              <a:spcBef>
                <a:spcPts val="0"/>
              </a:spcBef>
              <a:spcAft>
                <a:spcPts val="0"/>
              </a:spcAft>
              <a:buNone/>
            </a:pPr>
            <a:r>
              <a:rPr lang="en-ZA" sz="2400"/>
              <a:t>The centroid is approximately:</a:t>
            </a:r>
            <a:endParaRPr sz="2400"/>
          </a:p>
          <a:p>
            <a:pPr indent="0" lvl="0" marL="0" rtl="0" algn="l">
              <a:spcBef>
                <a:spcPts val="0"/>
              </a:spcBef>
              <a:spcAft>
                <a:spcPts val="0"/>
              </a:spcAft>
              <a:buClr>
                <a:schemeClr val="dk1"/>
              </a:buClr>
              <a:buSzPct val="45833"/>
              <a:buFont typeface="Arial"/>
              <a:buNone/>
            </a:pPr>
            <a:r>
              <a:t/>
            </a:r>
            <a:endParaRPr sz="2400"/>
          </a:p>
          <a:p>
            <a:pPr indent="0" lvl="0" marL="0" rtl="0" algn="l">
              <a:spcBef>
                <a:spcPts val="0"/>
              </a:spcBef>
              <a:spcAft>
                <a:spcPts val="0"/>
              </a:spcAft>
              <a:buClr>
                <a:schemeClr val="dk1"/>
              </a:buClr>
              <a:buSzPct val="45833"/>
              <a:buFont typeface="Arial"/>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However, </a:t>
            </a:r>
            <a:r>
              <a:rPr b="1" lang="en-ZA" sz="2400"/>
              <a:t>(12,12) </a:t>
            </a:r>
            <a:r>
              <a:rPr lang="en-ZA" sz="2400"/>
              <a:t>is not one of the original observations. The medoid, would probably be </a:t>
            </a:r>
            <a:r>
              <a:rPr b="1" lang="en-ZA" sz="2400"/>
              <a:t>C(2,2)</a:t>
            </a:r>
            <a:r>
              <a:rPr lang="en-ZA" sz="2400"/>
              <a:t> because it is the point with the smallest overall distance to the others in the main group.  </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ct val="45833"/>
              <a:buFont typeface="Arial"/>
              <a:buNone/>
            </a:pPr>
            <a:r>
              <a:rPr lang="en-ZA" sz="2400"/>
              <a:t>Unlike K-Means, k-medoids selects actual observations. K-means typically uses the Euclidean distance only while K-Medoids can use any distance metric such as Euclidean, Manhattan, cosine, etc.</a:t>
            </a:r>
            <a:endParaRPr sz="2400"/>
          </a:p>
          <a:p>
            <a:pPr indent="0" lvl="0" marL="0" rtl="0" algn="l">
              <a:spcBef>
                <a:spcPts val="0"/>
              </a:spcBef>
              <a:spcAft>
                <a:spcPts val="0"/>
              </a:spcAft>
              <a:buNone/>
            </a:pPr>
            <a:r>
              <a:t/>
            </a:r>
            <a:endParaRPr sz="2400"/>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313" name="Google Shape;313;g3f2b97712c9_1_25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14" name="Google Shape;314;g3f2b97712c9_1_252"/>
          <p:cNvPicPr preferRelativeResize="0"/>
          <p:nvPr/>
        </p:nvPicPr>
        <p:blipFill>
          <a:blip r:embed="rId5">
            <a:alphaModFix/>
          </a:blip>
          <a:stretch>
            <a:fillRect/>
          </a:stretch>
        </p:blipFill>
        <p:spPr>
          <a:xfrm>
            <a:off x="5639925" y="2356320"/>
            <a:ext cx="1294525" cy="914927"/>
          </a:xfrm>
          <a:prstGeom prst="rect">
            <a:avLst/>
          </a:prstGeom>
          <a:noFill/>
          <a:ln>
            <a:noFill/>
          </a:ln>
        </p:spPr>
      </p:pic>
      <p:pic>
        <p:nvPicPr>
          <p:cNvPr id="315" name="Google Shape;315;g3f2b97712c9_1_252"/>
          <p:cNvPicPr preferRelativeResize="0"/>
          <p:nvPr/>
        </p:nvPicPr>
        <p:blipFill>
          <a:blip r:embed="rId6">
            <a:alphaModFix/>
          </a:blip>
          <a:stretch>
            <a:fillRect/>
          </a:stretch>
        </p:blipFill>
        <p:spPr>
          <a:xfrm>
            <a:off x="4848175" y="3568000"/>
            <a:ext cx="4816301" cy="499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g3f2b97712c9_1_273"/>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21" name="Google Shape;321;g3f2b97712c9_1_273"/>
          <p:cNvSpPr txBox="1"/>
          <p:nvPr>
            <p:ph type="title"/>
          </p:nvPr>
        </p:nvSpPr>
        <p:spPr>
          <a:xfrm>
            <a:off x="2589000" y="513075"/>
            <a:ext cx="9603000" cy="1546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K-Medoids Clustering Advantages</a:t>
            </a:r>
            <a:endParaRPr/>
          </a:p>
        </p:txBody>
      </p:sp>
      <p:sp>
        <p:nvSpPr>
          <p:cNvPr id="322" name="Google Shape;322;g3f2b97712c9_1_273"/>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ZA" sz="2400"/>
              <a:t>K-medoids python </a:t>
            </a:r>
            <a:r>
              <a:rPr lang="en-ZA" sz="2400" u="sng">
                <a:solidFill>
                  <a:schemeClr val="hlink"/>
                </a:solidFill>
                <a:hlinkClick r:id="rId4"/>
              </a:rPr>
              <a:t>implementation.</a:t>
            </a:r>
            <a:endParaRPr sz="2400"/>
          </a:p>
          <a:p>
            <a:pPr indent="-381000" lvl="0" marL="457200" rtl="0" algn="l">
              <a:spcBef>
                <a:spcPts val="0"/>
              </a:spcBef>
              <a:spcAft>
                <a:spcPts val="0"/>
              </a:spcAft>
              <a:buSzPts val="2400"/>
              <a:buAutoNum type="arabicPeriod"/>
            </a:pPr>
            <a:r>
              <a:rPr b="1" lang="en-ZA" sz="2400"/>
              <a:t>Advantages</a:t>
            </a:r>
            <a:endParaRPr b="1" sz="2400"/>
          </a:p>
          <a:p>
            <a:pPr indent="0" lvl="0" marL="457200" rtl="0" algn="l">
              <a:spcBef>
                <a:spcPts val="0"/>
              </a:spcBef>
              <a:spcAft>
                <a:spcPts val="0"/>
              </a:spcAft>
              <a:buNone/>
            </a:pPr>
            <a:r>
              <a:t/>
            </a:r>
            <a:endParaRPr sz="2400"/>
          </a:p>
          <a:p>
            <a:pPr indent="0" lvl="0" marL="457200" rtl="0" algn="l">
              <a:spcBef>
                <a:spcPts val="0"/>
              </a:spcBef>
              <a:spcAft>
                <a:spcPts val="0"/>
              </a:spcAft>
              <a:buNone/>
            </a:pPr>
            <a:r>
              <a:rPr lang="en-ZA" sz="2400"/>
              <a:t>Robustness to Outliers: Most often, medoids are less prone to outliers and noises than centroids.</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rPr lang="en-ZA" sz="2400"/>
              <a:t>Flexibility in Distance Metrics: Others can use any distance measurement, not limited to the Euclidean distance measurement, making it general for all data types.</a:t>
            </a:r>
            <a:endParaRPr sz="2400"/>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t/>
            </a:r>
            <a:endParaRPr/>
          </a:p>
        </p:txBody>
      </p:sp>
      <p:pic>
        <p:nvPicPr>
          <p:cNvPr id="323" name="Google Shape;323;g3f2b97712c9_1_273"/>
          <p:cNvPicPr preferRelativeResize="0"/>
          <p:nvPr/>
        </p:nvPicPr>
        <p:blipFill rotWithShape="1">
          <a:blip r:embed="rId5">
            <a:alphaModFix/>
          </a:blip>
          <a:srcRect b="0" l="0" r="0" t="0"/>
          <a:stretch/>
        </p:blipFill>
        <p:spPr>
          <a:xfrm>
            <a:off x="629723" y="991034"/>
            <a:ext cx="1294526" cy="590587"/>
          </a:xfrm>
          <a:prstGeom prst="rect">
            <a:avLst/>
          </a:prstGeom>
          <a:noFill/>
          <a:ln>
            <a:noFill/>
          </a:ln>
        </p:spPr>
      </p:pic>
      <p:pic>
        <p:nvPicPr>
          <p:cNvPr id="324" name="Google Shape;324;g3f2b97712c9_1_273" title="check.png"/>
          <p:cNvPicPr preferRelativeResize="0"/>
          <p:nvPr/>
        </p:nvPicPr>
        <p:blipFill>
          <a:blip r:embed="rId6">
            <a:alphaModFix/>
          </a:blip>
          <a:stretch>
            <a:fillRect/>
          </a:stretch>
        </p:blipFill>
        <p:spPr>
          <a:xfrm>
            <a:off x="2133075" y="3235813"/>
            <a:ext cx="386374" cy="386374"/>
          </a:xfrm>
          <a:prstGeom prst="rect">
            <a:avLst/>
          </a:prstGeom>
          <a:noFill/>
          <a:ln>
            <a:noFill/>
          </a:ln>
        </p:spPr>
      </p:pic>
      <p:pic>
        <p:nvPicPr>
          <p:cNvPr id="325" name="Google Shape;325;g3f2b97712c9_1_273" title="check.png"/>
          <p:cNvPicPr preferRelativeResize="0"/>
          <p:nvPr/>
        </p:nvPicPr>
        <p:blipFill>
          <a:blip r:embed="rId6">
            <a:alphaModFix/>
          </a:blip>
          <a:stretch>
            <a:fillRect/>
          </a:stretch>
        </p:blipFill>
        <p:spPr>
          <a:xfrm>
            <a:off x="2133075" y="4494950"/>
            <a:ext cx="386374" cy="3863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g3f2b97712c9_1_290"/>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31" name="Google Shape;331;g3f2b97712c9_1_290"/>
          <p:cNvSpPr txBox="1"/>
          <p:nvPr>
            <p:ph type="title"/>
          </p:nvPr>
        </p:nvSpPr>
        <p:spPr>
          <a:xfrm>
            <a:off x="2589000" y="513075"/>
            <a:ext cx="9603000" cy="1546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K-Medoids Clustering Disadvantages</a:t>
            </a:r>
            <a:endParaRPr/>
          </a:p>
        </p:txBody>
      </p:sp>
      <p:sp>
        <p:nvSpPr>
          <p:cNvPr id="332" name="Google Shape;332;g3f2b97712c9_1_290"/>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ZA" sz="2400"/>
              <a:t>2. Disadvantages</a:t>
            </a:r>
            <a:endParaRPr b="1" sz="2400"/>
          </a:p>
          <a:p>
            <a:pPr indent="0" lvl="0" marL="45720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rPr lang="en-ZA" sz="2400"/>
              <a:t>Computationally Intensive: K-Medoids is relatively slower than K-Means due to its higher complexity when working with larger databases.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ZA" sz="2400"/>
              <a:t>Complexity: It is also more difficult to implement and understand than K-Means, even though it is a more effective clustering method.</a:t>
            </a:r>
            <a:endParaRPr/>
          </a:p>
          <a:p>
            <a:pPr indent="0" lvl="0" marL="0" rtl="0" algn="l">
              <a:lnSpc>
                <a:spcPct val="90000"/>
              </a:lnSpc>
              <a:spcBef>
                <a:spcPts val="0"/>
              </a:spcBef>
              <a:spcAft>
                <a:spcPts val="0"/>
              </a:spcAft>
              <a:buNone/>
            </a:pPr>
            <a:r>
              <a:t/>
            </a:r>
            <a:endParaRPr/>
          </a:p>
        </p:txBody>
      </p:sp>
      <p:pic>
        <p:nvPicPr>
          <p:cNvPr id="333" name="Google Shape;333;g3f2b97712c9_1_290"/>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34" name="Google Shape;334;g3f2b97712c9_1_290" title="cross.png"/>
          <p:cNvPicPr preferRelativeResize="0"/>
          <p:nvPr/>
        </p:nvPicPr>
        <p:blipFill>
          <a:blip r:embed="rId5">
            <a:alphaModFix/>
          </a:blip>
          <a:stretch>
            <a:fillRect/>
          </a:stretch>
        </p:blipFill>
        <p:spPr>
          <a:xfrm flipH="1">
            <a:off x="1714775" y="2785400"/>
            <a:ext cx="297300" cy="297300"/>
          </a:xfrm>
          <a:prstGeom prst="rect">
            <a:avLst/>
          </a:prstGeom>
          <a:noFill/>
          <a:ln>
            <a:noFill/>
          </a:ln>
        </p:spPr>
      </p:pic>
      <p:pic>
        <p:nvPicPr>
          <p:cNvPr id="335" name="Google Shape;335;g3f2b97712c9_1_290" title="cross.png"/>
          <p:cNvPicPr preferRelativeResize="0"/>
          <p:nvPr/>
        </p:nvPicPr>
        <p:blipFill>
          <a:blip r:embed="rId5">
            <a:alphaModFix/>
          </a:blip>
          <a:stretch>
            <a:fillRect/>
          </a:stretch>
        </p:blipFill>
        <p:spPr>
          <a:xfrm flipH="1">
            <a:off x="1714775" y="4131475"/>
            <a:ext cx="297300" cy="297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g3f2b97712c9_0_206"/>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41" name="Google Shape;341;g3f2b97712c9_0_206"/>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Clustering</a:t>
            </a:r>
            <a:endParaRPr/>
          </a:p>
        </p:txBody>
      </p:sp>
      <p:sp>
        <p:nvSpPr>
          <p:cNvPr id="342" name="Google Shape;342;g3f2b97712c9_0_206"/>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1100"/>
              <a:buFont typeface="Arial"/>
              <a:buNone/>
            </a:pPr>
            <a:r>
              <a:rPr lang="en-ZA" sz="2400"/>
              <a:t>Unlike K-Means and K-Medoids, where each data point belongs to exactly one cluster, </a:t>
            </a:r>
            <a:r>
              <a:rPr b="1" lang="en-ZA" sz="2400"/>
              <a:t>Fuzzy Clustering allows a data point to belong to multiple clusters simultaneously with different degrees of membership.</a:t>
            </a:r>
            <a:endParaRPr b="1" sz="2400"/>
          </a:p>
          <a:p>
            <a:pPr indent="0" lvl="0" marL="0" rtl="0" algn="l">
              <a:spcBef>
                <a:spcPts val="0"/>
              </a:spcBef>
              <a:spcAft>
                <a:spcPts val="0"/>
              </a:spcAft>
              <a:buClr>
                <a:schemeClr val="dk1"/>
              </a:buClr>
              <a:buSzPts val="1100"/>
              <a:buFont typeface="Arial"/>
              <a:buNone/>
            </a:pPr>
            <a:r>
              <a:t/>
            </a:r>
            <a:endParaRPr b="1" sz="2400"/>
          </a:p>
          <a:p>
            <a:pPr indent="0" lvl="0" marL="0" rtl="0" algn="l">
              <a:spcBef>
                <a:spcPts val="0"/>
              </a:spcBef>
              <a:spcAft>
                <a:spcPts val="0"/>
              </a:spcAft>
              <a:buClr>
                <a:schemeClr val="dk1"/>
              </a:buClr>
              <a:buSzPts val="1100"/>
              <a:buFont typeface="Arial"/>
              <a:buNone/>
            </a:pPr>
            <a:r>
              <a:rPr lang="en-ZA" sz="2400"/>
              <a:t>The membership values always sum to 1.</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a:p>
          <a:p>
            <a:pPr indent="0" lvl="0" marL="0" rtl="0" algn="l">
              <a:lnSpc>
                <a:spcPct val="90000"/>
              </a:lnSpc>
              <a:spcBef>
                <a:spcPts val="0"/>
              </a:spcBef>
              <a:spcAft>
                <a:spcPts val="0"/>
              </a:spcAft>
              <a:buNone/>
            </a:pPr>
            <a:r>
              <a:t/>
            </a:r>
            <a:endParaRPr sz="2400"/>
          </a:p>
        </p:txBody>
      </p:sp>
      <p:pic>
        <p:nvPicPr>
          <p:cNvPr id="343" name="Google Shape;343;g3f2b97712c9_0_206"/>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44" name="Google Shape;344;g3f2b97712c9_0_206"/>
          <p:cNvPicPr preferRelativeResize="0"/>
          <p:nvPr/>
        </p:nvPicPr>
        <p:blipFill>
          <a:blip r:embed="rId5">
            <a:alphaModFix/>
          </a:blip>
          <a:stretch>
            <a:fillRect/>
          </a:stretch>
        </p:blipFill>
        <p:spPr>
          <a:xfrm>
            <a:off x="3744039" y="4301774"/>
            <a:ext cx="5731137" cy="1312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g3f06094e263_0_1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50" name="Google Shape;350;g3f06094e263_0_11"/>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a:t>
            </a:r>
            <a:endParaRPr/>
          </a:p>
        </p:txBody>
      </p:sp>
      <p:sp>
        <p:nvSpPr>
          <p:cNvPr id="351" name="Google Shape;351;g3f06094e263_0_11"/>
          <p:cNvSpPr txBox="1"/>
          <p:nvPr>
            <p:ph idx="1" type="body"/>
          </p:nvPr>
        </p:nvSpPr>
        <p:spPr>
          <a:xfrm>
            <a:off x="2023775" y="1970000"/>
            <a:ext cx="10085400" cy="4887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ZA" sz="2400"/>
              <a:t>Example:</a:t>
            </a:r>
            <a:r>
              <a:rPr lang="en-ZA" sz="2400"/>
              <a:t> Suppose you are clustering customers based on their income and spending habits.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b="1" lang="en-ZA" sz="2400"/>
              <a:t>Step 1: </a:t>
            </a:r>
            <a:r>
              <a:rPr lang="en-ZA" sz="2400"/>
              <a:t>Initialize membership values randomly, they must sum to 1 per row:</a:t>
            </a:r>
            <a:endParaRPr sz="2400"/>
          </a:p>
          <a:p>
            <a:pPr indent="0" lvl="0" marL="0" rtl="0" algn="l">
              <a:spcBef>
                <a:spcPts val="0"/>
              </a:spcBef>
              <a:spcAft>
                <a:spcPts val="0"/>
              </a:spcAft>
              <a:buNone/>
            </a:pPr>
            <a:r>
              <a:t/>
            </a:r>
            <a:endParaRPr b="1" sz="2400"/>
          </a:p>
          <a:p>
            <a:pPr indent="0" lvl="0" marL="0" rtl="0" algn="l">
              <a:spcBef>
                <a:spcPts val="0"/>
              </a:spcBef>
              <a:spcAft>
                <a:spcPts val="0"/>
              </a:spcAft>
              <a:buNone/>
            </a:pPr>
            <a:r>
              <a:t/>
            </a:r>
            <a:endParaRPr sz="2400"/>
          </a:p>
        </p:txBody>
      </p:sp>
      <p:pic>
        <p:nvPicPr>
          <p:cNvPr id="352" name="Google Shape;352;g3f06094e263_0_1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53" name="Google Shape;353;g3f06094e263_0_11"/>
          <p:cNvPicPr preferRelativeResize="0"/>
          <p:nvPr/>
        </p:nvPicPr>
        <p:blipFill>
          <a:blip r:embed="rId5">
            <a:alphaModFix/>
          </a:blip>
          <a:stretch>
            <a:fillRect/>
          </a:stretch>
        </p:blipFill>
        <p:spPr>
          <a:xfrm>
            <a:off x="3709438" y="2795263"/>
            <a:ext cx="5781675" cy="962025"/>
          </a:xfrm>
          <a:prstGeom prst="rect">
            <a:avLst/>
          </a:prstGeom>
          <a:noFill/>
          <a:ln>
            <a:noFill/>
          </a:ln>
        </p:spPr>
      </p:pic>
      <p:pic>
        <p:nvPicPr>
          <p:cNvPr id="354" name="Google Shape;354;g3f06094e263_0_11"/>
          <p:cNvPicPr preferRelativeResize="0"/>
          <p:nvPr/>
        </p:nvPicPr>
        <p:blipFill>
          <a:blip r:embed="rId6">
            <a:alphaModFix/>
          </a:blip>
          <a:stretch>
            <a:fillRect/>
          </a:stretch>
        </p:blipFill>
        <p:spPr>
          <a:xfrm>
            <a:off x="3709450" y="4946013"/>
            <a:ext cx="6076950" cy="1000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g3f06094e263_0_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60" name="Google Shape;360;g3f06094e263_0_1"/>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 cont.</a:t>
            </a:r>
            <a:endParaRPr/>
          </a:p>
        </p:txBody>
      </p:sp>
      <p:sp>
        <p:nvSpPr>
          <p:cNvPr id="361" name="Google Shape;361;g3f06094e263_0_1"/>
          <p:cNvSpPr txBox="1"/>
          <p:nvPr>
            <p:ph idx="1" type="body"/>
          </p:nvPr>
        </p:nvSpPr>
        <p:spPr>
          <a:xfrm>
            <a:off x="2023775" y="1970000"/>
            <a:ext cx="10085400" cy="4887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ZA" sz="2400"/>
              <a:t>Step 2: </a:t>
            </a:r>
            <a:r>
              <a:rPr lang="en-ZA" sz="2400"/>
              <a:t>Define the number of clusters </a:t>
            </a:r>
            <a:r>
              <a:rPr i="1" lang="en-ZA" sz="2400"/>
              <a:t>c</a:t>
            </a:r>
            <a:r>
              <a:rPr lang="en-ZA" sz="2400"/>
              <a:t> you want and the fuzziness coefficient </a:t>
            </a:r>
            <a:r>
              <a:rPr i="1" lang="en-ZA" sz="2400"/>
              <a:t>m</a:t>
            </a:r>
            <a:r>
              <a:rPr lang="en-ZA" sz="2400"/>
              <a:t>. </a:t>
            </a:r>
            <a:r>
              <a:rPr i="1" lang="en-ZA" sz="2400"/>
              <a:t>m</a:t>
            </a:r>
            <a:r>
              <a:rPr lang="en-ZA" sz="2400"/>
              <a:t> dictates how "soft" or overlapping your cluster boundaries are. Higher m = fuzzier.</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Let's say  c=2, and m = 2. Learn more about other parameters </a:t>
            </a:r>
            <a:r>
              <a:rPr lang="en-ZA" sz="2400" u="sng">
                <a:solidFill>
                  <a:schemeClr val="hlink"/>
                </a:solidFill>
                <a:hlinkClick r:id="rId4"/>
              </a:rPr>
              <a:t>here</a:t>
            </a:r>
            <a:r>
              <a:rPr lang="en-ZA" sz="2400"/>
              <a:t>: </a:t>
            </a:r>
            <a:endParaRPr sz="2400"/>
          </a:p>
        </p:txBody>
      </p:sp>
      <p:pic>
        <p:nvPicPr>
          <p:cNvPr id="362" name="Google Shape;362;g3f06094e263_0_1"/>
          <p:cNvPicPr preferRelativeResize="0"/>
          <p:nvPr/>
        </p:nvPicPr>
        <p:blipFill rotWithShape="1">
          <a:blip r:embed="rId5">
            <a:alphaModFix/>
          </a:blip>
          <a:srcRect b="0" l="0" r="0" t="0"/>
          <a:stretch/>
        </p:blipFill>
        <p:spPr>
          <a:xfrm>
            <a:off x="629723" y="991034"/>
            <a:ext cx="1294526" cy="590587"/>
          </a:xfrm>
          <a:prstGeom prst="rect">
            <a:avLst/>
          </a:prstGeom>
          <a:noFill/>
          <a:ln>
            <a:noFill/>
          </a:ln>
        </p:spPr>
      </p:pic>
      <p:pic>
        <p:nvPicPr>
          <p:cNvPr id="363" name="Google Shape;363;g3f06094e263_0_1"/>
          <p:cNvPicPr preferRelativeResize="0"/>
          <p:nvPr/>
        </p:nvPicPr>
        <p:blipFill>
          <a:blip r:embed="rId6">
            <a:alphaModFix/>
          </a:blip>
          <a:stretch>
            <a:fillRect/>
          </a:stretch>
        </p:blipFill>
        <p:spPr>
          <a:xfrm>
            <a:off x="3307163" y="3580688"/>
            <a:ext cx="5781675" cy="962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g3f06094e263_0_2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69" name="Google Shape;369;g3f06094e263_0_21"/>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 cont</a:t>
            </a:r>
            <a:endParaRPr/>
          </a:p>
        </p:txBody>
      </p:sp>
      <p:sp>
        <p:nvSpPr>
          <p:cNvPr id="370" name="Google Shape;370;g3f06094e263_0_21"/>
          <p:cNvSpPr txBox="1"/>
          <p:nvPr>
            <p:ph idx="1" type="body"/>
          </p:nvPr>
        </p:nvSpPr>
        <p:spPr>
          <a:xfrm>
            <a:off x="1924250" y="1788450"/>
            <a:ext cx="10548000" cy="5244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b="1" lang="en-ZA" sz="1800"/>
              <a:t>Step 3 Compute the centroids weighted by: </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ZA" sz="1800"/>
              <a:t>Cluster 1 </a:t>
            </a:r>
            <a:r>
              <a:rPr lang="en-ZA" sz="1800"/>
              <a:t>(weights =         0.64, 0.16, 0.81 → sum = 1.61):</a:t>
            </a:r>
            <a:endParaRPr sz="1800"/>
          </a:p>
          <a:p>
            <a:pPr indent="0" lvl="0" marL="0" rtl="0" algn="l">
              <a:spcBef>
                <a:spcPts val="0"/>
              </a:spcBef>
              <a:spcAft>
                <a:spcPts val="0"/>
              </a:spcAft>
              <a:buNone/>
            </a:pPr>
            <a:r>
              <a:rPr lang="en-ZA" sz="1800"/>
              <a:t>Income: (0.64×25 + 0.16×28 + 0.81×30) / 1.61 = 27.81</a:t>
            </a:r>
            <a:endParaRPr sz="1800"/>
          </a:p>
          <a:p>
            <a:pPr indent="0" lvl="0" marL="0" rtl="0" algn="l">
              <a:spcBef>
                <a:spcPts val="0"/>
              </a:spcBef>
              <a:spcAft>
                <a:spcPts val="0"/>
              </a:spcAft>
              <a:buNone/>
            </a:pPr>
            <a:r>
              <a:rPr lang="en-ZA" sz="1800"/>
              <a:t>Spending: (0.64×30 + 0.16×35 + 0.81×28) / 1.61 = 29.49, </a:t>
            </a:r>
            <a:r>
              <a:rPr b="1" lang="en-ZA" sz="1800"/>
              <a:t>Centroid 1 (C1) = (27.81, 29.49)</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rPr b="1" lang="en-ZA" sz="1800"/>
              <a:t>Cluster 2 </a:t>
            </a:r>
            <a:r>
              <a:rPr lang="en-ZA" sz="1800"/>
              <a:t>(weights:        0.04, 0.36, 0.01 → sum = 0.41):</a:t>
            </a:r>
            <a:endParaRPr sz="1800"/>
          </a:p>
          <a:p>
            <a:pPr indent="0" lvl="0" marL="0" rtl="0" algn="l">
              <a:spcBef>
                <a:spcPts val="0"/>
              </a:spcBef>
              <a:spcAft>
                <a:spcPts val="0"/>
              </a:spcAft>
              <a:buNone/>
            </a:pPr>
            <a:r>
              <a:rPr lang="en-ZA" sz="1800"/>
              <a:t>Income: (0.04×25 + 0.36×28 + 0.01×30) / 0.41 = 27.76</a:t>
            </a:r>
            <a:endParaRPr sz="1800"/>
          </a:p>
          <a:p>
            <a:pPr indent="0" lvl="0" marL="0" rtl="0" algn="l">
              <a:spcBef>
                <a:spcPts val="0"/>
              </a:spcBef>
              <a:spcAft>
                <a:spcPts val="0"/>
              </a:spcAft>
              <a:buNone/>
            </a:pPr>
            <a:r>
              <a:rPr lang="en-ZA" sz="1800"/>
              <a:t>Spending: (0.04×30 + 0.36×35 + 0.01×28) / 0.41 = 34.34, </a:t>
            </a:r>
            <a:r>
              <a:rPr b="1" lang="en-ZA" sz="1800"/>
              <a:t>Centroid 2 (C2) = (27.76, 34.34)</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371" name="Google Shape;371;g3f06094e263_0_2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72" name="Google Shape;372;g3f06094e263_0_21"/>
          <p:cNvPicPr preferRelativeResize="0"/>
          <p:nvPr/>
        </p:nvPicPr>
        <p:blipFill>
          <a:blip r:embed="rId5">
            <a:alphaModFix/>
          </a:blip>
          <a:stretch>
            <a:fillRect/>
          </a:stretch>
        </p:blipFill>
        <p:spPr>
          <a:xfrm>
            <a:off x="383125" y="3594512"/>
            <a:ext cx="5374050" cy="894200"/>
          </a:xfrm>
          <a:prstGeom prst="rect">
            <a:avLst/>
          </a:prstGeom>
          <a:noFill/>
          <a:ln>
            <a:noFill/>
          </a:ln>
        </p:spPr>
      </p:pic>
      <p:pic>
        <p:nvPicPr>
          <p:cNvPr id="373" name="Google Shape;373;g3f06094e263_0_21"/>
          <p:cNvPicPr preferRelativeResize="0"/>
          <p:nvPr/>
        </p:nvPicPr>
        <p:blipFill>
          <a:blip r:embed="rId6">
            <a:alphaModFix/>
          </a:blip>
          <a:stretch>
            <a:fillRect/>
          </a:stretch>
        </p:blipFill>
        <p:spPr>
          <a:xfrm>
            <a:off x="5272875" y="2492525"/>
            <a:ext cx="1294525" cy="702256"/>
          </a:xfrm>
          <a:prstGeom prst="rect">
            <a:avLst/>
          </a:prstGeom>
          <a:noFill/>
          <a:ln>
            <a:noFill/>
          </a:ln>
        </p:spPr>
      </p:pic>
      <p:pic>
        <p:nvPicPr>
          <p:cNvPr id="374" name="Google Shape;374;g3f06094e263_0_21"/>
          <p:cNvPicPr preferRelativeResize="0"/>
          <p:nvPr/>
        </p:nvPicPr>
        <p:blipFill>
          <a:blip r:embed="rId7">
            <a:alphaModFix/>
          </a:blip>
          <a:stretch>
            <a:fillRect/>
          </a:stretch>
        </p:blipFill>
        <p:spPr>
          <a:xfrm>
            <a:off x="4213363" y="4650475"/>
            <a:ext cx="314325" cy="342900"/>
          </a:xfrm>
          <a:prstGeom prst="rect">
            <a:avLst/>
          </a:prstGeom>
          <a:noFill/>
          <a:ln>
            <a:noFill/>
          </a:ln>
        </p:spPr>
      </p:pic>
      <p:pic>
        <p:nvPicPr>
          <p:cNvPr id="375" name="Google Shape;375;g3f06094e263_0_21"/>
          <p:cNvPicPr preferRelativeResize="0"/>
          <p:nvPr/>
        </p:nvPicPr>
        <p:blipFill>
          <a:blip r:embed="rId8">
            <a:alphaModFix/>
          </a:blip>
          <a:stretch>
            <a:fillRect/>
          </a:stretch>
        </p:blipFill>
        <p:spPr>
          <a:xfrm>
            <a:off x="6000825" y="3541538"/>
            <a:ext cx="6076950" cy="1000125"/>
          </a:xfrm>
          <a:prstGeom prst="rect">
            <a:avLst/>
          </a:prstGeom>
          <a:noFill/>
          <a:ln>
            <a:noFill/>
          </a:ln>
        </p:spPr>
      </p:pic>
      <p:pic>
        <p:nvPicPr>
          <p:cNvPr id="376" name="Google Shape;376;g3f06094e263_0_21"/>
          <p:cNvPicPr preferRelativeResize="0"/>
          <p:nvPr/>
        </p:nvPicPr>
        <p:blipFill>
          <a:blip r:embed="rId7">
            <a:alphaModFix/>
          </a:blip>
          <a:stretch>
            <a:fillRect/>
          </a:stretch>
        </p:blipFill>
        <p:spPr>
          <a:xfrm>
            <a:off x="3984313" y="5681625"/>
            <a:ext cx="314325" cy="342900"/>
          </a:xfrm>
          <a:prstGeom prst="rect">
            <a:avLst/>
          </a:prstGeom>
          <a:noFill/>
          <a:ln>
            <a:noFill/>
          </a:ln>
        </p:spPr>
      </p:pic>
      <p:pic>
        <p:nvPicPr>
          <p:cNvPr id="377" name="Google Shape;377;g3f06094e263_0_21"/>
          <p:cNvPicPr preferRelativeResize="0"/>
          <p:nvPr/>
        </p:nvPicPr>
        <p:blipFill>
          <a:blip r:embed="rId9">
            <a:alphaModFix/>
          </a:blip>
          <a:stretch>
            <a:fillRect/>
          </a:stretch>
        </p:blipFill>
        <p:spPr>
          <a:xfrm>
            <a:off x="6873888" y="2092813"/>
            <a:ext cx="447675" cy="409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g3f06094e263_0_39"/>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83" name="Google Shape;383;g3f06094e263_0_39"/>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 cont</a:t>
            </a:r>
            <a:endParaRPr/>
          </a:p>
        </p:txBody>
      </p:sp>
      <p:sp>
        <p:nvSpPr>
          <p:cNvPr id="384" name="Google Shape;384;g3f06094e263_0_39"/>
          <p:cNvSpPr txBox="1"/>
          <p:nvPr>
            <p:ph idx="1" type="body"/>
          </p:nvPr>
        </p:nvSpPr>
        <p:spPr>
          <a:xfrm>
            <a:off x="1700525" y="2092825"/>
            <a:ext cx="10548000" cy="5163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1800"/>
              <a:t>Step 4 </a:t>
            </a:r>
            <a:r>
              <a:rPr lang="en-ZA" sz="1800"/>
              <a:t>Compute distances using the standard Euclidean distance, but now measured to the new fuzzy centroids from step 3:</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Recall the new centroids from Step 3:</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ZA" sz="1800"/>
              <a:t>Centroid 1 (C1) = (27.81, 29.49)</a:t>
            </a:r>
            <a:endParaRPr b="1" sz="1800"/>
          </a:p>
          <a:p>
            <a:pPr indent="0" lvl="0" marL="0" rtl="0" algn="l">
              <a:spcBef>
                <a:spcPts val="0"/>
              </a:spcBef>
              <a:spcAft>
                <a:spcPts val="0"/>
              </a:spcAft>
              <a:buNone/>
            </a:pPr>
            <a:r>
              <a:rPr b="1" lang="en-ZA" sz="1800"/>
              <a:t>Centroid 2 (C2) = (27.76, 34.34)</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For customer A (25,30) using centroid 1:</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For customer A (25,30) using centroid 2:</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385" name="Google Shape;385;g3f06094e263_0_39"/>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86" name="Google Shape;386;g3f06094e263_0_39"/>
          <p:cNvPicPr preferRelativeResize="0"/>
          <p:nvPr/>
        </p:nvPicPr>
        <p:blipFill>
          <a:blip r:embed="rId5">
            <a:alphaModFix/>
          </a:blip>
          <a:stretch>
            <a:fillRect/>
          </a:stretch>
        </p:blipFill>
        <p:spPr>
          <a:xfrm>
            <a:off x="2049575" y="2768688"/>
            <a:ext cx="3009900" cy="352425"/>
          </a:xfrm>
          <a:prstGeom prst="rect">
            <a:avLst/>
          </a:prstGeom>
          <a:noFill/>
          <a:ln>
            <a:noFill/>
          </a:ln>
        </p:spPr>
      </p:pic>
      <p:pic>
        <p:nvPicPr>
          <p:cNvPr id="387" name="Google Shape;387;g3f06094e263_0_39"/>
          <p:cNvPicPr preferRelativeResize="0"/>
          <p:nvPr/>
        </p:nvPicPr>
        <p:blipFill>
          <a:blip r:embed="rId6">
            <a:alphaModFix/>
          </a:blip>
          <a:stretch>
            <a:fillRect/>
          </a:stretch>
        </p:blipFill>
        <p:spPr>
          <a:xfrm>
            <a:off x="5500688" y="2463888"/>
            <a:ext cx="5781675" cy="962025"/>
          </a:xfrm>
          <a:prstGeom prst="rect">
            <a:avLst/>
          </a:prstGeom>
          <a:noFill/>
          <a:ln>
            <a:noFill/>
          </a:ln>
        </p:spPr>
      </p:pic>
      <p:pic>
        <p:nvPicPr>
          <p:cNvPr id="388" name="Google Shape;388;g3f06094e263_0_39"/>
          <p:cNvPicPr preferRelativeResize="0"/>
          <p:nvPr/>
        </p:nvPicPr>
        <p:blipFill>
          <a:blip r:embed="rId7">
            <a:alphaModFix/>
          </a:blip>
          <a:stretch>
            <a:fillRect/>
          </a:stretch>
        </p:blipFill>
        <p:spPr>
          <a:xfrm>
            <a:off x="2764475" y="5419725"/>
            <a:ext cx="8420100" cy="438150"/>
          </a:xfrm>
          <a:prstGeom prst="rect">
            <a:avLst/>
          </a:prstGeom>
          <a:noFill/>
          <a:ln>
            <a:noFill/>
          </a:ln>
        </p:spPr>
      </p:pic>
      <p:pic>
        <p:nvPicPr>
          <p:cNvPr id="389" name="Google Shape;389;g3f06094e263_0_39"/>
          <p:cNvPicPr preferRelativeResize="0"/>
          <p:nvPr/>
        </p:nvPicPr>
        <p:blipFill>
          <a:blip r:embed="rId8">
            <a:alphaModFix/>
          </a:blip>
          <a:stretch>
            <a:fillRect/>
          </a:stretch>
        </p:blipFill>
        <p:spPr>
          <a:xfrm>
            <a:off x="2421575" y="6292388"/>
            <a:ext cx="8763000" cy="409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g3f06094e263_0_58"/>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395" name="Google Shape;395;g3f06094e263_0_58"/>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 cont.</a:t>
            </a:r>
            <a:endParaRPr/>
          </a:p>
        </p:txBody>
      </p:sp>
      <p:sp>
        <p:nvSpPr>
          <p:cNvPr id="396" name="Google Shape;396;g3f06094e263_0_58"/>
          <p:cNvSpPr txBox="1"/>
          <p:nvPr>
            <p:ph idx="1" type="body"/>
          </p:nvPr>
        </p:nvSpPr>
        <p:spPr>
          <a:xfrm>
            <a:off x="1924250" y="2092825"/>
            <a:ext cx="10548000" cy="5163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1800"/>
              <a:t>Step 4</a:t>
            </a:r>
            <a:r>
              <a:rPr lang="en-ZA" sz="1800"/>
              <a:t> Compute distances using the standard Euclidean distance, but now measured to the new fuzzy centroids from step 3:</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Recall the new centroids from Step 3:</a:t>
            </a:r>
            <a:endParaRPr sz="1800"/>
          </a:p>
          <a:p>
            <a:pPr indent="0" lvl="0" marL="0" rtl="0" algn="l">
              <a:spcBef>
                <a:spcPts val="0"/>
              </a:spcBef>
              <a:spcAft>
                <a:spcPts val="0"/>
              </a:spcAft>
              <a:buNone/>
            </a:pPr>
            <a:r>
              <a:rPr b="1" lang="en-ZA" sz="1800"/>
              <a:t>Centroid 1 (C1) = (27.81, 29.49)</a:t>
            </a:r>
            <a:endParaRPr b="1" sz="1800"/>
          </a:p>
          <a:p>
            <a:pPr indent="0" lvl="0" marL="0" rtl="0" algn="l">
              <a:spcBef>
                <a:spcPts val="0"/>
              </a:spcBef>
              <a:spcAft>
                <a:spcPts val="0"/>
              </a:spcAft>
              <a:buNone/>
            </a:pPr>
            <a:r>
              <a:rPr b="1" lang="en-ZA" sz="1800"/>
              <a:t>Centroid 2 (C2) = (27.76, 34.34)</a:t>
            </a:r>
            <a:endParaRPr b="1" sz="1800"/>
          </a:p>
          <a:p>
            <a:pPr indent="0" lvl="0" marL="0" rtl="0" algn="l">
              <a:spcBef>
                <a:spcPts val="0"/>
              </a:spcBef>
              <a:spcAft>
                <a:spcPts val="0"/>
              </a:spcAft>
              <a:buNone/>
            </a:pPr>
            <a:r>
              <a:rPr lang="en-ZA" sz="1800"/>
              <a:t>For customer B (28,35) using centroid 1:</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For customer B (28,25) using centroid 2:</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Repeat for customer C</a:t>
            </a:r>
            <a:endParaRPr sz="1800"/>
          </a:p>
        </p:txBody>
      </p:sp>
      <p:pic>
        <p:nvPicPr>
          <p:cNvPr id="397" name="Google Shape;397;g3f06094e263_0_58"/>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398" name="Google Shape;398;g3f06094e263_0_58"/>
          <p:cNvPicPr preferRelativeResize="0"/>
          <p:nvPr/>
        </p:nvPicPr>
        <p:blipFill>
          <a:blip r:embed="rId5">
            <a:alphaModFix/>
          </a:blip>
          <a:stretch>
            <a:fillRect/>
          </a:stretch>
        </p:blipFill>
        <p:spPr>
          <a:xfrm>
            <a:off x="2049575" y="2768688"/>
            <a:ext cx="3009900" cy="352425"/>
          </a:xfrm>
          <a:prstGeom prst="rect">
            <a:avLst/>
          </a:prstGeom>
          <a:noFill/>
          <a:ln>
            <a:noFill/>
          </a:ln>
        </p:spPr>
      </p:pic>
      <p:pic>
        <p:nvPicPr>
          <p:cNvPr id="399" name="Google Shape;399;g3f06094e263_0_58"/>
          <p:cNvPicPr preferRelativeResize="0"/>
          <p:nvPr/>
        </p:nvPicPr>
        <p:blipFill>
          <a:blip r:embed="rId6">
            <a:alphaModFix/>
          </a:blip>
          <a:stretch>
            <a:fillRect/>
          </a:stretch>
        </p:blipFill>
        <p:spPr>
          <a:xfrm>
            <a:off x="5807188" y="2463888"/>
            <a:ext cx="5781675" cy="962025"/>
          </a:xfrm>
          <a:prstGeom prst="rect">
            <a:avLst/>
          </a:prstGeom>
          <a:noFill/>
          <a:ln>
            <a:noFill/>
          </a:ln>
        </p:spPr>
      </p:pic>
      <p:pic>
        <p:nvPicPr>
          <p:cNvPr id="400" name="Google Shape;400;g3f06094e263_0_58"/>
          <p:cNvPicPr preferRelativeResize="0"/>
          <p:nvPr/>
        </p:nvPicPr>
        <p:blipFill>
          <a:blip r:embed="rId7">
            <a:alphaModFix/>
          </a:blip>
          <a:stretch>
            <a:fillRect/>
          </a:stretch>
        </p:blipFill>
        <p:spPr>
          <a:xfrm>
            <a:off x="1901938" y="4657163"/>
            <a:ext cx="8610600" cy="352425"/>
          </a:xfrm>
          <a:prstGeom prst="rect">
            <a:avLst/>
          </a:prstGeom>
          <a:noFill/>
          <a:ln>
            <a:noFill/>
          </a:ln>
        </p:spPr>
      </p:pic>
      <p:pic>
        <p:nvPicPr>
          <p:cNvPr id="401" name="Google Shape;401;g3f06094e263_0_58"/>
          <p:cNvPicPr preferRelativeResize="0"/>
          <p:nvPr/>
        </p:nvPicPr>
        <p:blipFill>
          <a:blip r:embed="rId8">
            <a:alphaModFix/>
          </a:blip>
          <a:stretch>
            <a:fillRect/>
          </a:stretch>
        </p:blipFill>
        <p:spPr>
          <a:xfrm>
            <a:off x="2049575" y="5454188"/>
            <a:ext cx="8315325" cy="409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g3f06094e263_0_7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07" name="Google Shape;407;g3f06094e263_0_71"/>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 cont.</a:t>
            </a:r>
            <a:endParaRPr/>
          </a:p>
        </p:txBody>
      </p:sp>
      <p:sp>
        <p:nvSpPr>
          <p:cNvPr id="408" name="Google Shape;408;g3f06094e263_0_71"/>
          <p:cNvSpPr txBox="1"/>
          <p:nvPr>
            <p:ph idx="1" type="body"/>
          </p:nvPr>
        </p:nvSpPr>
        <p:spPr>
          <a:xfrm>
            <a:off x="1924250" y="2092825"/>
            <a:ext cx="10548000" cy="5163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1800"/>
              <a:t>Step 4 </a:t>
            </a:r>
            <a:r>
              <a:rPr lang="en-ZA" sz="1800"/>
              <a:t>Compute distances using the standard Euclidean distance, but now measured to the new fuzzy centroids from step 3</a:t>
            </a:r>
            <a:r>
              <a:rPr b="1" lang="en-ZA" sz="1800"/>
              <a:t>:</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Summary table from step 4:</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409" name="Google Shape;409;g3f06094e263_0_7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10" name="Google Shape;410;g3f06094e263_0_71"/>
          <p:cNvPicPr preferRelativeResize="0"/>
          <p:nvPr/>
        </p:nvPicPr>
        <p:blipFill>
          <a:blip r:embed="rId5">
            <a:alphaModFix/>
          </a:blip>
          <a:stretch>
            <a:fillRect/>
          </a:stretch>
        </p:blipFill>
        <p:spPr>
          <a:xfrm>
            <a:off x="2049575" y="2768688"/>
            <a:ext cx="3009900" cy="352425"/>
          </a:xfrm>
          <a:prstGeom prst="rect">
            <a:avLst/>
          </a:prstGeom>
          <a:noFill/>
          <a:ln>
            <a:noFill/>
          </a:ln>
        </p:spPr>
      </p:pic>
      <p:pic>
        <p:nvPicPr>
          <p:cNvPr id="411" name="Google Shape;411;g3f06094e263_0_71"/>
          <p:cNvPicPr preferRelativeResize="0"/>
          <p:nvPr/>
        </p:nvPicPr>
        <p:blipFill>
          <a:blip r:embed="rId6">
            <a:alphaModFix/>
          </a:blip>
          <a:stretch>
            <a:fillRect/>
          </a:stretch>
        </p:blipFill>
        <p:spPr>
          <a:xfrm>
            <a:off x="5807188" y="2463888"/>
            <a:ext cx="5781675" cy="962025"/>
          </a:xfrm>
          <a:prstGeom prst="rect">
            <a:avLst/>
          </a:prstGeom>
          <a:noFill/>
          <a:ln>
            <a:noFill/>
          </a:ln>
        </p:spPr>
      </p:pic>
      <p:pic>
        <p:nvPicPr>
          <p:cNvPr id="412" name="Google Shape;412;g3f06094e263_0_71"/>
          <p:cNvPicPr preferRelativeResize="0"/>
          <p:nvPr/>
        </p:nvPicPr>
        <p:blipFill>
          <a:blip r:embed="rId7">
            <a:alphaModFix/>
          </a:blip>
          <a:stretch>
            <a:fillRect/>
          </a:stretch>
        </p:blipFill>
        <p:spPr>
          <a:xfrm>
            <a:off x="2634525" y="4572288"/>
            <a:ext cx="5753100" cy="9810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g3f06094e263_0_86"/>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18" name="Google Shape;418;g3f06094e263_0_86"/>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Fuzzy C-Means Clustering Example cont.</a:t>
            </a:r>
            <a:endParaRPr/>
          </a:p>
        </p:txBody>
      </p:sp>
      <p:sp>
        <p:nvSpPr>
          <p:cNvPr id="419" name="Google Shape;419;g3f06094e263_0_86"/>
          <p:cNvSpPr txBox="1"/>
          <p:nvPr>
            <p:ph idx="1" type="body"/>
          </p:nvPr>
        </p:nvSpPr>
        <p:spPr>
          <a:xfrm>
            <a:off x="1924250" y="2092825"/>
            <a:ext cx="10548000" cy="5163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1800"/>
              <a:t>Step 5 </a:t>
            </a:r>
            <a:r>
              <a:rPr lang="en-ZA" sz="1800"/>
              <a:t>Update memberships u1 and u2:</a:t>
            </a:r>
            <a:endParaRPr sz="1800"/>
          </a:p>
          <a:p>
            <a:pPr indent="0" lvl="0" marL="0" rtl="0" algn="l">
              <a:spcBef>
                <a:spcPts val="0"/>
              </a:spcBef>
              <a:spcAft>
                <a:spcPts val="0"/>
              </a:spcAft>
              <a:buNone/>
            </a:pPr>
            <a:r>
              <a:t/>
            </a:r>
            <a:endParaRPr b="1" sz="1800"/>
          </a:p>
          <a:p>
            <a:pPr indent="0" lvl="0" marL="0" rtl="0" algn="l">
              <a:spcBef>
                <a:spcPts val="0"/>
              </a:spcBef>
              <a:spcAft>
                <a:spcPts val="0"/>
              </a:spcAft>
              <a:buNone/>
            </a:pPr>
            <a:r>
              <a:rPr lang="en-ZA" sz="1800"/>
              <a:t>Recall A's distances to cluster 1,             = </a:t>
            </a:r>
            <a:r>
              <a:rPr lang="en-ZA" sz="1800"/>
              <a:t>2.86, </a:t>
            </a:r>
            <a:r>
              <a:rPr lang="en-ZA" sz="1800"/>
              <a:t>  and cluster 2,            = </a:t>
            </a:r>
            <a:r>
              <a:rPr lang="en-ZA" sz="1800"/>
              <a:t>5.14</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Using the formula:                                        ,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ZA" sz="1800"/>
              <a:t>                                 ,                           </a:t>
            </a:r>
            <a:endParaRPr sz="1800"/>
          </a:p>
          <a:p>
            <a:pPr indent="0" lvl="0" marL="0" rtl="0" algn="l">
              <a:spcBef>
                <a:spcPts val="0"/>
              </a:spcBef>
              <a:spcAft>
                <a:spcPts val="0"/>
              </a:spcAft>
              <a:buNone/>
            </a:pPr>
            <a:r>
              <a:rPr lang="en-ZA" sz="1800"/>
              <a:t>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420" name="Google Shape;420;g3f06094e263_0_86"/>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21" name="Google Shape;421;g3f06094e263_0_86"/>
          <p:cNvPicPr preferRelativeResize="0"/>
          <p:nvPr/>
        </p:nvPicPr>
        <p:blipFill>
          <a:blip r:embed="rId5">
            <a:alphaModFix/>
          </a:blip>
          <a:stretch>
            <a:fillRect/>
          </a:stretch>
        </p:blipFill>
        <p:spPr>
          <a:xfrm>
            <a:off x="3663200" y="2947088"/>
            <a:ext cx="5753100" cy="981075"/>
          </a:xfrm>
          <a:prstGeom prst="rect">
            <a:avLst/>
          </a:prstGeom>
          <a:noFill/>
          <a:ln>
            <a:noFill/>
          </a:ln>
        </p:spPr>
      </p:pic>
      <p:pic>
        <p:nvPicPr>
          <p:cNvPr id="422" name="Google Shape;422;g3f06094e263_0_86"/>
          <p:cNvPicPr preferRelativeResize="0"/>
          <p:nvPr/>
        </p:nvPicPr>
        <p:blipFill>
          <a:blip r:embed="rId6">
            <a:alphaModFix/>
          </a:blip>
          <a:stretch>
            <a:fillRect/>
          </a:stretch>
        </p:blipFill>
        <p:spPr>
          <a:xfrm>
            <a:off x="4003375" y="4169025"/>
            <a:ext cx="2230944" cy="702900"/>
          </a:xfrm>
          <a:prstGeom prst="rect">
            <a:avLst/>
          </a:prstGeom>
          <a:noFill/>
          <a:ln>
            <a:noFill/>
          </a:ln>
        </p:spPr>
      </p:pic>
      <p:pic>
        <p:nvPicPr>
          <p:cNvPr id="423" name="Google Shape;423;g3f06094e263_0_86"/>
          <p:cNvPicPr preferRelativeResize="0"/>
          <p:nvPr/>
        </p:nvPicPr>
        <p:blipFill>
          <a:blip r:embed="rId7">
            <a:alphaModFix/>
          </a:blip>
          <a:stretch>
            <a:fillRect/>
          </a:stretch>
        </p:blipFill>
        <p:spPr>
          <a:xfrm>
            <a:off x="5375875" y="2599425"/>
            <a:ext cx="523875" cy="333375"/>
          </a:xfrm>
          <a:prstGeom prst="rect">
            <a:avLst/>
          </a:prstGeom>
          <a:noFill/>
          <a:ln>
            <a:noFill/>
          </a:ln>
        </p:spPr>
      </p:pic>
      <p:pic>
        <p:nvPicPr>
          <p:cNvPr id="424" name="Google Shape;424;g3f06094e263_0_86"/>
          <p:cNvPicPr preferRelativeResize="0"/>
          <p:nvPr/>
        </p:nvPicPr>
        <p:blipFill>
          <a:blip r:embed="rId8">
            <a:alphaModFix/>
          </a:blip>
          <a:stretch>
            <a:fillRect/>
          </a:stretch>
        </p:blipFill>
        <p:spPr>
          <a:xfrm>
            <a:off x="8453150" y="2613713"/>
            <a:ext cx="552450" cy="304800"/>
          </a:xfrm>
          <a:prstGeom prst="rect">
            <a:avLst/>
          </a:prstGeom>
          <a:noFill/>
          <a:ln>
            <a:noFill/>
          </a:ln>
        </p:spPr>
      </p:pic>
      <p:pic>
        <p:nvPicPr>
          <p:cNvPr id="425" name="Google Shape;425;g3f06094e263_0_86"/>
          <p:cNvPicPr preferRelativeResize="0"/>
          <p:nvPr/>
        </p:nvPicPr>
        <p:blipFill>
          <a:blip r:embed="rId9">
            <a:alphaModFix/>
          </a:blip>
          <a:stretch>
            <a:fillRect/>
          </a:stretch>
        </p:blipFill>
        <p:spPr>
          <a:xfrm>
            <a:off x="1966075" y="5112775"/>
            <a:ext cx="6305550" cy="933450"/>
          </a:xfrm>
          <a:prstGeom prst="rect">
            <a:avLst/>
          </a:prstGeom>
          <a:noFill/>
          <a:ln>
            <a:noFill/>
          </a:ln>
        </p:spPr>
      </p:pic>
      <p:pic>
        <p:nvPicPr>
          <p:cNvPr id="426" name="Google Shape;426;g3f06094e263_0_86"/>
          <p:cNvPicPr preferRelativeResize="0"/>
          <p:nvPr/>
        </p:nvPicPr>
        <p:blipFill>
          <a:blip r:embed="rId10">
            <a:alphaModFix/>
          </a:blip>
          <a:stretch>
            <a:fillRect/>
          </a:stretch>
        </p:blipFill>
        <p:spPr>
          <a:xfrm>
            <a:off x="1966075" y="5965525"/>
            <a:ext cx="2038350" cy="438150"/>
          </a:xfrm>
          <a:prstGeom prst="rect">
            <a:avLst/>
          </a:prstGeom>
          <a:noFill/>
          <a:ln>
            <a:noFill/>
          </a:ln>
        </p:spPr>
      </p:pic>
      <p:pic>
        <p:nvPicPr>
          <p:cNvPr id="427" name="Google Shape;427;g3f06094e263_0_86"/>
          <p:cNvPicPr preferRelativeResize="0"/>
          <p:nvPr/>
        </p:nvPicPr>
        <p:blipFill>
          <a:blip r:embed="rId11">
            <a:alphaModFix/>
          </a:blip>
          <a:stretch>
            <a:fillRect/>
          </a:stretch>
        </p:blipFill>
        <p:spPr>
          <a:xfrm>
            <a:off x="6753959" y="5965525"/>
            <a:ext cx="1294525" cy="697052"/>
          </a:xfrm>
          <a:prstGeom prst="rect">
            <a:avLst/>
          </a:prstGeom>
          <a:noFill/>
          <a:ln>
            <a:noFill/>
          </a:ln>
        </p:spPr>
      </p:pic>
      <p:pic>
        <p:nvPicPr>
          <p:cNvPr id="428" name="Google Shape;428;g3f06094e263_0_86"/>
          <p:cNvPicPr preferRelativeResize="0"/>
          <p:nvPr/>
        </p:nvPicPr>
        <p:blipFill>
          <a:blip r:embed="rId12">
            <a:alphaModFix/>
          </a:blip>
          <a:stretch>
            <a:fillRect/>
          </a:stretch>
        </p:blipFill>
        <p:spPr>
          <a:xfrm>
            <a:off x="8048475" y="5962600"/>
            <a:ext cx="2505400" cy="702900"/>
          </a:xfrm>
          <a:prstGeom prst="rect">
            <a:avLst/>
          </a:prstGeom>
          <a:noFill/>
          <a:ln>
            <a:noFill/>
          </a:ln>
        </p:spPr>
      </p:pic>
      <p:cxnSp>
        <p:nvCxnSpPr>
          <p:cNvPr id="429" name="Google Shape;429;g3f06094e263_0_86"/>
          <p:cNvCxnSpPr/>
          <p:nvPr/>
        </p:nvCxnSpPr>
        <p:spPr>
          <a:xfrm>
            <a:off x="5538388" y="6184588"/>
            <a:ext cx="1008600" cy="0"/>
          </a:xfrm>
          <a:prstGeom prst="straightConnector1">
            <a:avLst/>
          </a:prstGeom>
          <a:noFill/>
          <a:ln cap="flat" cmpd="sng" w="38100">
            <a:solidFill>
              <a:srgbClr val="E69138"/>
            </a:solidFill>
            <a:prstDash val="solid"/>
            <a:round/>
            <a:headEnd len="med" w="med" type="none"/>
            <a:tailEnd len="med" w="med" type="triangle"/>
          </a:ln>
        </p:spPr>
      </p:cxnSp>
      <p:sp>
        <p:nvSpPr>
          <p:cNvPr id="430" name="Google Shape;430;g3f06094e263_0_86"/>
          <p:cNvSpPr txBox="1"/>
          <p:nvPr/>
        </p:nvSpPr>
        <p:spPr>
          <a:xfrm>
            <a:off x="10798000" y="5884450"/>
            <a:ext cx="14052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ZA" sz="1000">
                <a:solidFill>
                  <a:schemeClr val="dk1"/>
                </a:solidFill>
              </a:rPr>
              <a:t>The membership values always sum to 1.</a:t>
            </a:r>
            <a:endParaRPr sz="1000">
              <a:solidFill>
                <a:schemeClr val="dk1"/>
              </a:solidFill>
            </a:endParaRPr>
          </a:p>
        </p:txBody>
      </p:sp>
      <p:pic>
        <p:nvPicPr>
          <p:cNvPr id="431" name="Google Shape;431;g3f06094e263_0_86"/>
          <p:cNvPicPr preferRelativeResize="0"/>
          <p:nvPr/>
        </p:nvPicPr>
        <p:blipFill>
          <a:blip r:embed="rId13">
            <a:alphaModFix/>
          </a:blip>
          <a:stretch>
            <a:fillRect/>
          </a:stretch>
        </p:blipFill>
        <p:spPr>
          <a:xfrm>
            <a:off x="4291063" y="6003625"/>
            <a:ext cx="600075" cy="361950"/>
          </a:xfrm>
          <a:prstGeom prst="rect">
            <a:avLst/>
          </a:prstGeom>
          <a:noFill/>
          <a:ln>
            <a:noFill/>
          </a:ln>
        </p:spPr>
      </p:pic>
      <p:pic>
        <p:nvPicPr>
          <p:cNvPr id="432" name="Google Shape;432;g3f06094e263_0_86"/>
          <p:cNvPicPr preferRelativeResize="0"/>
          <p:nvPr/>
        </p:nvPicPr>
        <p:blipFill>
          <a:blip r:embed="rId14">
            <a:alphaModFix/>
          </a:blip>
          <a:stretch>
            <a:fillRect/>
          </a:stretch>
        </p:blipFill>
        <p:spPr>
          <a:xfrm>
            <a:off x="5007988" y="6056000"/>
            <a:ext cx="600075" cy="257175"/>
          </a:xfrm>
          <a:prstGeom prst="rect">
            <a:avLst/>
          </a:prstGeom>
          <a:noFill/>
          <a:ln>
            <a:noFill/>
          </a:ln>
        </p:spPr>
      </p:pic>
      <p:pic>
        <p:nvPicPr>
          <p:cNvPr id="433" name="Google Shape;433;g3f06094e263_0_86"/>
          <p:cNvPicPr preferRelativeResize="0"/>
          <p:nvPr/>
        </p:nvPicPr>
        <p:blipFill>
          <a:blip r:embed="rId15">
            <a:alphaModFix/>
          </a:blip>
          <a:stretch>
            <a:fillRect/>
          </a:stretch>
        </p:blipFill>
        <p:spPr>
          <a:xfrm>
            <a:off x="6557163" y="4106913"/>
            <a:ext cx="3438525" cy="962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g3f2b97712c9_0_270"/>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39" name="Google Shape;439;g3f2b97712c9_0_270"/>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When to choose which model</a:t>
            </a:r>
            <a:endParaRPr/>
          </a:p>
        </p:txBody>
      </p:sp>
      <p:sp>
        <p:nvSpPr>
          <p:cNvPr id="440" name="Google Shape;440;g3f2b97712c9_0_270"/>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441" name="Google Shape;441;g3f2b97712c9_0_270"/>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42" name="Google Shape;442;g3f2b97712c9_0_270"/>
          <p:cNvPicPr preferRelativeResize="0"/>
          <p:nvPr/>
        </p:nvPicPr>
        <p:blipFill>
          <a:blip r:embed="rId5">
            <a:alphaModFix/>
          </a:blip>
          <a:stretch>
            <a:fillRect/>
          </a:stretch>
        </p:blipFill>
        <p:spPr>
          <a:xfrm>
            <a:off x="2133063" y="1709438"/>
            <a:ext cx="9510176" cy="51413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g3f2b97712c9_0_253"/>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48" name="Google Shape;448;g3f2b97712c9_0_253"/>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Principal Component Analysis (PCA)</a:t>
            </a:r>
            <a:endParaRPr/>
          </a:p>
        </p:txBody>
      </p:sp>
      <p:sp>
        <p:nvSpPr>
          <p:cNvPr id="449" name="Google Shape;449;g3f2b97712c9_0_253"/>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ZA" sz="1800"/>
              <a:t>PCA (Principal Component Analysis) is a dimensionality reduction technique and helps us to reduce the number of features in a dataset while keeping the most important information. It changes complex datasets by transforming correlated features into a smaller set of uncorrelated components.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450" name="Google Shape;450;g3f2b97712c9_0_253"/>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51" name="Google Shape;451;g3f2b97712c9_0_253"/>
          <p:cNvPicPr preferRelativeResize="0"/>
          <p:nvPr/>
        </p:nvPicPr>
        <p:blipFill>
          <a:blip r:embed="rId5">
            <a:alphaModFix/>
          </a:blip>
          <a:stretch>
            <a:fillRect/>
          </a:stretch>
        </p:blipFill>
        <p:spPr>
          <a:xfrm>
            <a:off x="2502675" y="3226750"/>
            <a:ext cx="7266625" cy="407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g3f2b97712c9_0_287"/>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57" name="Google Shape;457;g3f2b97712c9_0_287"/>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Principal Component Analysis (PCA) cont.</a:t>
            </a:r>
            <a:endParaRPr/>
          </a:p>
        </p:txBody>
      </p:sp>
      <p:sp>
        <p:nvSpPr>
          <p:cNvPr id="458" name="Google Shape;458;g3f2b97712c9_0_287"/>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ZA" sz="2400"/>
              <a:t>PCA is not a clustering algorithm. Instead, it is often used before clustering to make clustering algorithms work better, especially when dealing with high-dimensional data.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n-ZA" sz="2400"/>
              <a:t>Think of PCA as a data preparation (preprocessing) step, while K-Means, K-Medoids, and Fuzzy C-Means are the algorithms that actually group the data.</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rPr lang="en-ZA" sz="2400"/>
              <a:t>Example: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459" name="Google Shape;459;g3f2b97712c9_0_287"/>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60" name="Google Shape;460;g3f2b97712c9_0_287"/>
          <p:cNvPicPr preferRelativeResize="0"/>
          <p:nvPr/>
        </p:nvPicPr>
        <p:blipFill>
          <a:blip r:embed="rId5">
            <a:alphaModFix/>
          </a:blip>
          <a:stretch>
            <a:fillRect/>
          </a:stretch>
        </p:blipFill>
        <p:spPr>
          <a:xfrm>
            <a:off x="4000500" y="4891950"/>
            <a:ext cx="4881275" cy="1777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g3f2b97712c9_1_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66" name="Google Shape;466;g3f2b97712c9_1_2"/>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Principal Component Analysis (PCA) Python Implementation</a:t>
            </a:r>
            <a:endParaRPr/>
          </a:p>
        </p:txBody>
      </p:sp>
      <p:sp>
        <p:nvSpPr>
          <p:cNvPr id="467" name="Google Shape;467;g3f2b97712c9_1_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1</a:t>
            </a:r>
            <a:r>
              <a:rPr lang="en-ZA" sz="2400"/>
              <a:t>: Install the libraries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b="1" lang="en-ZA" sz="2400"/>
              <a:t>Step 2 &amp; 3</a:t>
            </a:r>
            <a:r>
              <a:rPr lang="en-ZA" sz="2400"/>
              <a:t>: Import the libraries and load the dataset.</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468" name="Google Shape;468;g3f2b97712c9_1_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69" name="Google Shape;469;g3f2b97712c9_1_2"/>
          <p:cNvPicPr preferRelativeResize="0"/>
          <p:nvPr/>
        </p:nvPicPr>
        <p:blipFill>
          <a:blip r:embed="rId5">
            <a:alphaModFix/>
          </a:blip>
          <a:stretch>
            <a:fillRect/>
          </a:stretch>
        </p:blipFill>
        <p:spPr>
          <a:xfrm>
            <a:off x="2436488" y="2557713"/>
            <a:ext cx="4657725" cy="485775"/>
          </a:xfrm>
          <a:prstGeom prst="rect">
            <a:avLst/>
          </a:prstGeom>
          <a:noFill/>
          <a:ln>
            <a:noFill/>
          </a:ln>
        </p:spPr>
      </p:pic>
      <p:pic>
        <p:nvPicPr>
          <p:cNvPr id="470" name="Google Shape;470;g3f2b97712c9_1_2"/>
          <p:cNvPicPr preferRelativeResize="0"/>
          <p:nvPr/>
        </p:nvPicPr>
        <p:blipFill>
          <a:blip r:embed="rId6">
            <a:alphaModFix/>
          </a:blip>
          <a:stretch>
            <a:fillRect/>
          </a:stretch>
        </p:blipFill>
        <p:spPr>
          <a:xfrm>
            <a:off x="3681700" y="3969063"/>
            <a:ext cx="4286250" cy="26193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g3f2b97712c9_1_1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76" name="Google Shape;476;g3f2b97712c9_1_12"/>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ZA"/>
              <a:t>Principal Component Analysis (PCA) Python Implementation cont.</a:t>
            </a:r>
            <a:endParaRPr/>
          </a:p>
        </p:txBody>
      </p:sp>
      <p:sp>
        <p:nvSpPr>
          <p:cNvPr id="477" name="Google Shape;477;g3f2b97712c9_1_1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4:</a:t>
            </a:r>
            <a:r>
              <a:rPr lang="en-ZA" sz="2400"/>
              <a:t> Standardise the data</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b="1" lang="en-ZA" sz="2400"/>
              <a:t>Step 5 &amp; 6</a:t>
            </a:r>
            <a:r>
              <a:rPr lang="en-ZA" sz="2400"/>
              <a:t>: Fit the PCA model and reduce the dimensions</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478" name="Google Shape;478;g3f2b97712c9_1_1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79" name="Google Shape;479;g3f2b97712c9_1_12"/>
          <p:cNvPicPr preferRelativeResize="0"/>
          <p:nvPr/>
        </p:nvPicPr>
        <p:blipFill>
          <a:blip r:embed="rId5">
            <a:alphaModFix/>
          </a:blip>
          <a:stretch>
            <a:fillRect/>
          </a:stretch>
        </p:blipFill>
        <p:spPr>
          <a:xfrm>
            <a:off x="2741238" y="2691913"/>
            <a:ext cx="5781675" cy="828675"/>
          </a:xfrm>
          <a:prstGeom prst="rect">
            <a:avLst/>
          </a:prstGeom>
          <a:noFill/>
          <a:ln>
            <a:noFill/>
          </a:ln>
        </p:spPr>
      </p:pic>
      <p:pic>
        <p:nvPicPr>
          <p:cNvPr id="480" name="Google Shape;480;g3f2b97712c9_1_12"/>
          <p:cNvPicPr preferRelativeResize="0"/>
          <p:nvPr/>
        </p:nvPicPr>
        <p:blipFill>
          <a:blip r:embed="rId6">
            <a:alphaModFix/>
          </a:blip>
          <a:stretch>
            <a:fillRect/>
          </a:stretch>
        </p:blipFill>
        <p:spPr>
          <a:xfrm>
            <a:off x="2741250" y="4527175"/>
            <a:ext cx="5429250" cy="1295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g3f2b97712c9_1_23"/>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86" name="Google Shape;486;g3f2b97712c9_1_23"/>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ZA"/>
              <a:t>Principal Component Analysis (PCA) Python Implementation cont.</a:t>
            </a:r>
            <a:endParaRPr/>
          </a:p>
        </p:txBody>
      </p:sp>
      <p:sp>
        <p:nvSpPr>
          <p:cNvPr id="487" name="Google Shape;487;g3f2b97712c9_1_23"/>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7: </a:t>
            </a:r>
            <a:r>
              <a:rPr lang="en-ZA" sz="2400"/>
              <a:t>Visualise the Principal components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488" name="Google Shape;488;g3f2b97712c9_1_23"/>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489" name="Google Shape;489;g3f2b97712c9_1_23"/>
          <p:cNvPicPr preferRelativeResize="0"/>
          <p:nvPr/>
        </p:nvPicPr>
        <p:blipFill>
          <a:blip r:embed="rId5">
            <a:alphaModFix/>
          </a:blip>
          <a:stretch>
            <a:fillRect/>
          </a:stretch>
        </p:blipFill>
        <p:spPr>
          <a:xfrm>
            <a:off x="2278438" y="2645700"/>
            <a:ext cx="3762375" cy="2857500"/>
          </a:xfrm>
          <a:prstGeom prst="rect">
            <a:avLst/>
          </a:prstGeom>
          <a:noFill/>
          <a:ln>
            <a:noFill/>
          </a:ln>
        </p:spPr>
      </p:pic>
      <p:sp>
        <p:nvSpPr>
          <p:cNvPr id="490" name="Google Shape;490;g3f2b97712c9_1_23"/>
          <p:cNvSpPr/>
          <p:nvPr/>
        </p:nvSpPr>
        <p:spPr>
          <a:xfrm>
            <a:off x="5350725" y="3843301"/>
            <a:ext cx="1179900" cy="462300"/>
          </a:xfrm>
          <a:prstGeom prst="rightArrow">
            <a:avLst>
              <a:gd fmla="val 10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91" name="Google Shape;491;g3f2b97712c9_1_23"/>
          <p:cNvPicPr preferRelativeResize="0"/>
          <p:nvPr/>
        </p:nvPicPr>
        <p:blipFill>
          <a:blip r:embed="rId6">
            <a:alphaModFix/>
          </a:blip>
          <a:stretch>
            <a:fillRect/>
          </a:stretch>
        </p:blipFill>
        <p:spPr>
          <a:xfrm>
            <a:off x="6824375" y="2645700"/>
            <a:ext cx="5199274" cy="38217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g3f2b97712c9_1_35"/>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497" name="Google Shape;497;g3f2b97712c9_1_35"/>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ZA"/>
              <a:t>Principal Component Analysis (PCA) Python Implementation cont.</a:t>
            </a:r>
            <a:endParaRPr/>
          </a:p>
        </p:txBody>
      </p:sp>
      <p:sp>
        <p:nvSpPr>
          <p:cNvPr id="498" name="Google Shape;498;g3f2b97712c9_1_35"/>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8:</a:t>
            </a:r>
            <a:r>
              <a:rPr lang="en-ZA" sz="2400"/>
              <a:t> One of the most useful outputs of PCA is the proportion of variance explained by each principal component called the Explained Variance Ratio.</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Meaning t</a:t>
            </a:r>
            <a:r>
              <a:rPr lang="en-ZA" sz="2400"/>
              <a:t>he first two principal components preserve approximately 95.8% of the information in the original dataset.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499" name="Google Shape;499;g3f2b97712c9_1_35"/>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
        <p:nvSpPr>
          <p:cNvPr id="500" name="Google Shape;500;g3f2b97712c9_1_35"/>
          <p:cNvSpPr/>
          <p:nvPr/>
        </p:nvSpPr>
        <p:spPr>
          <a:xfrm>
            <a:off x="5915500" y="3480275"/>
            <a:ext cx="868500" cy="325200"/>
          </a:xfrm>
          <a:prstGeom prst="rightArrow">
            <a:avLst>
              <a:gd fmla="val 10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g3f2b97712c9_1_35"/>
          <p:cNvPicPr preferRelativeResize="0"/>
          <p:nvPr/>
        </p:nvPicPr>
        <p:blipFill>
          <a:blip r:embed="rId5">
            <a:alphaModFix/>
          </a:blip>
          <a:stretch>
            <a:fillRect/>
          </a:stretch>
        </p:blipFill>
        <p:spPr>
          <a:xfrm>
            <a:off x="7525025" y="3386375"/>
            <a:ext cx="2085975" cy="419100"/>
          </a:xfrm>
          <a:prstGeom prst="rect">
            <a:avLst/>
          </a:prstGeom>
          <a:noFill/>
          <a:ln>
            <a:noFill/>
          </a:ln>
        </p:spPr>
      </p:pic>
      <p:pic>
        <p:nvPicPr>
          <p:cNvPr id="502" name="Google Shape;502;g3f2b97712c9_1_35"/>
          <p:cNvPicPr preferRelativeResize="0"/>
          <p:nvPr/>
        </p:nvPicPr>
        <p:blipFill>
          <a:blip r:embed="rId6">
            <a:alphaModFix/>
          </a:blip>
          <a:stretch>
            <a:fillRect/>
          </a:stretch>
        </p:blipFill>
        <p:spPr>
          <a:xfrm>
            <a:off x="2133075" y="3409500"/>
            <a:ext cx="3486150" cy="466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g3f2b97712c9_1_5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08" name="Google Shape;508;g3f2b97712c9_1_52"/>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ZA"/>
              <a:t>Principal Component Analysis (PCA) Python Implementation cont.</a:t>
            </a:r>
            <a:endParaRPr/>
          </a:p>
        </p:txBody>
      </p:sp>
      <p:sp>
        <p:nvSpPr>
          <p:cNvPr id="509" name="Google Shape;509;g3f2b97712c9_1_5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ZA" sz="2400"/>
              <a:t>Step 9:</a:t>
            </a:r>
            <a:r>
              <a:rPr lang="en-ZA" sz="2400"/>
              <a:t> View the Principal Components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These values (called loadings) show how much each original feature contributes to each principal component.</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510" name="Google Shape;510;g3f2b97712c9_1_5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511" name="Google Shape;511;g3f2b97712c9_1_52"/>
          <p:cNvPicPr preferRelativeResize="0"/>
          <p:nvPr/>
        </p:nvPicPr>
        <p:blipFill>
          <a:blip r:embed="rId5">
            <a:alphaModFix/>
          </a:blip>
          <a:stretch>
            <a:fillRect/>
          </a:stretch>
        </p:blipFill>
        <p:spPr>
          <a:xfrm>
            <a:off x="2233900" y="2894475"/>
            <a:ext cx="2762250" cy="342900"/>
          </a:xfrm>
          <a:prstGeom prst="rect">
            <a:avLst/>
          </a:prstGeom>
          <a:noFill/>
          <a:ln>
            <a:noFill/>
          </a:ln>
        </p:spPr>
      </p:pic>
      <p:sp>
        <p:nvSpPr>
          <p:cNvPr id="512" name="Google Shape;512;g3f2b97712c9_1_52"/>
          <p:cNvSpPr/>
          <p:nvPr/>
        </p:nvSpPr>
        <p:spPr>
          <a:xfrm>
            <a:off x="5169175" y="2903325"/>
            <a:ext cx="868500" cy="325200"/>
          </a:xfrm>
          <a:prstGeom prst="rightArrow">
            <a:avLst>
              <a:gd fmla="val 10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3" name="Google Shape;513;g3f2b97712c9_1_52"/>
          <p:cNvPicPr preferRelativeResize="0"/>
          <p:nvPr/>
        </p:nvPicPr>
        <p:blipFill>
          <a:blip r:embed="rId6">
            <a:alphaModFix/>
          </a:blip>
          <a:stretch>
            <a:fillRect/>
          </a:stretch>
        </p:blipFill>
        <p:spPr>
          <a:xfrm>
            <a:off x="6569713" y="2775400"/>
            <a:ext cx="4238625" cy="581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g3f2b97712c9_1_80"/>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19" name="Google Shape;519;g3f2b97712c9_1_80"/>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T-distributed Stochastic Neighbor Embedding (t-SNE) Algorithm</a:t>
            </a:r>
            <a:endParaRPr/>
          </a:p>
        </p:txBody>
      </p:sp>
      <p:sp>
        <p:nvSpPr>
          <p:cNvPr id="520" name="Google Shape;520;g3f2b97712c9_1_80"/>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ZA" sz="2400"/>
              <a:t>T-distributed Stochastic Neighbor Embedding (t-SNE) is a non linear dimensionality reduction technique used for visualizing high-dimensional data in a lower-dimensional space mainly in 2D or 3D.</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b="1" lang="en-ZA" sz="2400"/>
              <a:t>How is t-SNE different from PCA?</a:t>
            </a:r>
            <a:r>
              <a:rPr lang="en-ZA" sz="2400"/>
              <a:t> PCA and t-SNE are both dimensionality reduction techniques used in machine learning and data visualization. However, PCA assumes linear relationships and may not capture complex, non-linear patterns in the data. On the other hand, t-SNE is a non-linear dimensionality reduction technique.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521" name="Google Shape;521;g3f2b97712c9_1_80"/>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g3f2b97712c9_1_9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27" name="Google Shape;527;g3f2b97712c9_1_92"/>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t-SNE Algorithm Python Implementation</a:t>
            </a:r>
            <a:endParaRPr/>
          </a:p>
        </p:txBody>
      </p:sp>
      <p:sp>
        <p:nvSpPr>
          <p:cNvPr id="528" name="Google Shape;528;g3f2b97712c9_1_9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sz="2400"/>
              <a:t>Now let's use the sklearn implementation of the t-SNE algorithm on the MNIST dataset which contains 10 classes that are for the 10 different digits in the mathematics.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ZA" sz="2400"/>
              <a:t>Step 1 Import libraries: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529" name="Google Shape;529;g3f2b97712c9_1_9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530" name="Google Shape;530;g3f2b97712c9_1_92"/>
          <p:cNvPicPr preferRelativeResize="0"/>
          <p:nvPr/>
        </p:nvPicPr>
        <p:blipFill>
          <a:blip r:embed="rId5">
            <a:alphaModFix/>
          </a:blip>
          <a:stretch>
            <a:fillRect/>
          </a:stretch>
        </p:blipFill>
        <p:spPr>
          <a:xfrm>
            <a:off x="2457163" y="3911688"/>
            <a:ext cx="4010025" cy="1495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g3f2b97712c9_1_102"/>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36" name="Google Shape;536;g3f2b97712c9_1_102"/>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t-SNE) Algorithm Python Implementation cont.</a:t>
            </a:r>
            <a:endParaRPr/>
          </a:p>
        </p:txBody>
      </p:sp>
      <p:sp>
        <p:nvSpPr>
          <p:cNvPr id="537" name="Google Shape;537;g3f2b97712c9_1_102"/>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sz="2400"/>
              <a:t>Step 2: Load the MNIST data</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538" name="Google Shape;538;g3f2b97712c9_1_102"/>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pic>
        <p:nvPicPr>
          <p:cNvPr id="539" name="Google Shape;539;g3f2b97712c9_1_102"/>
          <p:cNvPicPr preferRelativeResize="0"/>
          <p:nvPr/>
        </p:nvPicPr>
        <p:blipFill>
          <a:blip r:embed="rId5">
            <a:alphaModFix/>
          </a:blip>
          <a:stretch>
            <a:fillRect/>
          </a:stretch>
        </p:blipFill>
        <p:spPr>
          <a:xfrm>
            <a:off x="275388" y="2603125"/>
            <a:ext cx="4581525" cy="2095500"/>
          </a:xfrm>
          <a:prstGeom prst="rect">
            <a:avLst/>
          </a:prstGeom>
          <a:noFill/>
          <a:ln>
            <a:noFill/>
          </a:ln>
        </p:spPr>
      </p:pic>
      <p:pic>
        <p:nvPicPr>
          <p:cNvPr id="540" name="Google Shape;540;g3f2b97712c9_1_102"/>
          <p:cNvPicPr preferRelativeResize="0"/>
          <p:nvPr/>
        </p:nvPicPr>
        <p:blipFill>
          <a:blip r:embed="rId6">
            <a:alphaModFix/>
          </a:blip>
          <a:stretch>
            <a:fillRect/>
          </a:stretch>
        </p:blipFill>
        <p:spPr>
          <a:xfrm>
            <a:off x="5772150" y="2445125"/>
            <a:ext cx="6419850" cy="3200400"/>
          </a:xfrm>
          <a:prstGeom prst="rect">
            <a:avLst/>
          </a:prstGeom>
          <a:noFill/>
          <a:ln>
            <a:noFill/>
          </a:ln>
        </p:spPr>
      </p:pic>
      <p:sp>
        <p:nvSpPr>
          <p:cNvPr id="541" name="Google Shape;541;g3f2b97712c9_1_102"/>
          <p:cNvSpPr/>
          <p:nvPr/>
        </p:nvSpPr>
        <p:spPr>
          <a:xfrm>
            <a:off x="4856925" y="3378425"/>
            <a:ext cx="542400" cy="326100"/>
          </a:xfrm>
          <a:prstGeom prst="rightArrow">
            <a:avLst>
              <a:gd fmla="val 10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id="546" name="Google Shape;546;g3f2b97712c9_1_111"/>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47" name="Google Shape;547;g3f2b97712c9_1_111"/>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t-SNE Algorithm Python Implementation cont.</a:t>
            </a:r>
            <a:endParaRPr/>
          </a:p>
        </p:txBody>
      </p:sp>
      <p:sp>
        <p:nvSpPr>
          <p:cNvPr id="548" name="Google Shape;548;g3f2b97712c9_1_111"/>
          <p:cNvSpPr txBox="1"/>
          <p:nvPr>
            <p:ph idx="1" type="body"/>
          </p:nvPr>
        </p:nvSpPr>
        <p:spPr>
          <a:xfrm>
            <a:off x="1383900" y="2092825"/>
            <a:ext cx="105366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sz="2400"/>
              <a:t>Step 3: Standardise data, apply t-SNE, and plot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549" name="Google Shape;549;g3f2b97712c9_1_111"/>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
        <p:nvSpPr>
          <p:cNvPr id="550" name="Google Shape;550;g3f2b97712c9_1_111"/>
          <p:cNvSpPr/>
          <p:nvPr/>
        </p:nvSpPr>
        <p:spPr>
          <a:xfrm>
            <a:off x="6089550" y="3802025"/>
            <a:ext cx="542400" cy="326100"/>
          </a:xfrm>
          <a:prstGeom prst="rightArrow">
            <a:avLst>
              <a:gd fmla="val 10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1" name="Google Shape;551;g3f2b97712c9_1_111"/>
          <p:cNvPicPr preferRelativeResize="0"/>
          <p:nvPr/>
        </p:nvPicPr>
        <p:blipFill>
          <a:blip r:embed="rId5">
            <a:alphaModFix/>
          </a:blip>
          <a:stretch>
            <a:fillRect/>
          </a:stretch>
        </p:blipFill>
        <p:spPr>
          <a:xfrm>
            <a:off x="7086600" y="2534775"/>
            <a:ext cx="4833975" cy="3489175"/>
          </a:xfrm>
          <a:prstGeom prst="rect">
            <a:avLst/>
          </a:prstGeom>
          <a:noFill/>
          <a:ln>
            <a:noFill/>
          </a:ln>
        </p:spPr>
      </p:pic>
      <p:pic>
        <p:nvPicPr>
          <p:cNvPr id="552" name="Google Shape;552;g3f2b97712c9_1_111"/>
          <p:cNvPicPr preferRelativeResize="0"/>
          <p:nvPr/>
        </p:nvPicPr>
        <p:blipFill>
          <a:blip r:embed="rId6">
            <a:alphaModFix/>
          </a:blip>
          <a:stretch>
            <a:fillRect/>
          </a:stretch>
        </p:blipFill>
        <p:spPr>
          <a:xfrm>
            <a:off x="1350575" y="2534775"/>
            <a:ext cx="4476750" cy="1247775"/>
          </a:xfrm>
          <a:prstGeom prst="rect">
            <a:avLst/>
          </a:prstGeom>
          <a:noFill/>
          <a:ln>
            <a:noFill/>
          </a:ln>
        </p:spPr>
      </p:pic>
      <p:pic>
        <p:nvPicPr>
          <p:cNvPr id="553" name="Google Shape;553;g3f2b97712c9_1_111"/>
          <p:cNvPicPr preferRelativeResize="0"/>
          <p:nvPr/>
        </p:nvPicPr>
        <p:blipFill>
          <a:blip r:embed="rId7">
            <a:alphaModFix/>
          </a:blip>
          <a:stretch>
            <a:fillRect/>
          </a:stretch>
        </p:blipFill>
        <p:spPr>
          <a:xfrm>
            <a:off x="1383900" y="3502088"/>
            <a:ext cx="4410075" cy="26193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g3f2b97712c9_1_127"/>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59" name="Google Shape;559;g3f2b97712c9_1_127"/>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When to use PCA vs t-SNE?</a:t>
            </a:r>
            <a:endParaRPr/>
          </a:p>
        </p:txBody>
      </p:sp>
      <p:sp>
        <p:nvSpPr>
          <p:cNvPr id="560" name="Google Shape;560;g3f2b97712c9_1_127"/>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ZA" sz="2400"/>
              <a:t>Use PCA when:</a:t>
            </a:r>
            <a:endParaRPr b="1" sz="2400"/>
          </a:p>
          <a:p>
            <a:pPr indent="0" lvl="0" marL="0" rtl="0" algn="l">
              <a:spcBef>
                <a:spcPts val="0"/>
              </a:spcBef>
              <a:spcAft>
                <a:spcPts val="0"/>
              </a:spcAft>
              <a:buClr>
                <a:schemeClr val="dk1"/>
              </a:buClr>
              <a:buSzPts val="1100"/>
              <a:buFont typeface="Arial"/>
              <a:buNone/>
            </a:pPr>
            <a:r>
              <a:t/>
            </a:r>
            <a:endParaRPr sz="2400"/>
          </a:p>
          <a:p>
            <a:pPr indent="-381000" lvl="0" marL="457200" rtl="0" algn="l">
              <a:spcBef>
                <a:spcPts val="0"/>
              </a:spcBef>
              <a:spcAft>
                <a:spcPts val="0"/>
              </a:spcAft>
              <a:buSzPts val="2400"/>
              <a:buChar char="•"/>
            </a:pPr>
            <a:r>
              <a:rPr lang="en-ZA" sz="2400"/>
              <a:t>You require faster computation</a:t>
            </a:r>
            <a:endParaRPr sz="2400"/>
          </a:p>
          <a:p>
            <a:pPr indent="-381000" lvl="0" marL="457200" rtl="0" algn="l">
              <a:spcBef>
                <a:spcPts val="0"/>
              </a:spcBef>
              <a:spcAft>
                <a:spcPts val="0"/>
              </a:spcAft>
              <a:buSzPts val="2400"/>
              <a:buChar char="•"/>
            </a:pPr>
            <a:r>
              <a:rPr lang="en-ZA" sz="2400"/>
              <a:t>You require feature reduction</a:t>
            </a:r>
            <a:endParaRPr sz="2400"/>
          </a:p>
          <a:p>
            <a:pPr indent="-381000" lvl="0" marL="457200" rtl="0" algn="l">
              <a:spcBef>
                <a:spcPts val="0"/>
              </a:spcBef>
              <a:spcAft>
                <a:spcPts val="0"/>
              </a:spcAft>
              <a:buSzPts val="2400"/>
              <a:buChar char="•"/>
            </a:pPr>
            <a:r>
              <a:rPr lang="en-ZA" sz="2400"/>
              <a:t>You need input for ML models </a:t>
            </a:r>
            <a:endParaRPr sz="2400"/>
          </a:p>
          <a:p>
            <a:pPr indent="-381000" lvl="0" marL="457200" rtl="0" algn="l">
              <a:spcBef>
                <a:spcPts val="0"/>
              </a:spcBef>
              <a:spcAft>
                <a:spcPts val="0"/>
              </a:spcAft>
              <a:buSzPts val="2400"/>
              <a:buChar char="•"/>
            </a:pPr>
            <a:r>
              <a:rPr lang="en-ZA" sz="2400"/>
              <a:t>You need interpretable components</a:t>
            </a:r>
            <a:endParaRPr sz="2400"/>
          </a:p>
          <a:p>
            <a:pPr indent="-381000" lvl="0" marL="457200" rtl="0" algn="l">
              <a:spcBef>
                <a:spcPts val="0"/>
              </a:spcBef>
              <a:spcAft>
                <a:spcPts val="0"/>
              </a:spcAft>
              <a:buSzPts val="2400"/>
              <a:buChar char="•"/>
            </a:pPr>
            <a:r>
              <a:rPr lang="en-ZA" sz="2400"/>
              <a:t>When you have a large dataset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b="1" lang="en-ZA" sz="2400"/>
              <a:t>Use t-SNE when:</a:t>
            </a:r>
            <a:endParaRPr b="1" sz="2400"/>
          </a:p>
          <a:p>
            <a:pPr indent="-381000" lvl="0" marL="457200" rtl="0" algn="l">
              <a:spcBef>
                <a:spcPts val="0"/>
              </a:spcBef>
              <a:spcAft>
                <a:spcPts val="0"/>
              </a:spcAft>
              <a:buSzPts val="2400"/>
              <a:buChar char="•"/>
            </a:pPr>
            <a:r>
              <a:rPr lang="en-ZA" sz="2400"/>
              <a:t>You want visualization only</a:t>
            </a:r>
            <a:endParaRPr sz="2400"/>
          </a:p>
          <a:p>
            <a:pPr indent="-381000" lvl="0" marL="457200" rtl="0" algn="l">
              <a:spcBef>
                <a:spcPts val="0"/>
              </a:spcBef>
              <a:spcAft>
                <a:spcPts val="0"/>
              </a:spcAft>
              <a:buSzPts val="2400"/>
              <a:buChar char="•"/>
            </a:pPr>
            <a:r>
              <a:rPr lang="en-ZA" sz="2400"/>
              <a:t>You want to explore clusters in embeddings</a:t>
            </a:r>
            <a:endParaRPr sz="2400"/>
          </a:p>
          <a:p>
            <a:pPr indent="-381000" lvl="0" marL="457200" rtl="0" algn="l">
              <a:spcBef>
                <a:spcPts val="0"/>
              </a:spcBef>
              <a:spcAft>
                <a:spcPts val="0"/>
              </a:spcAft>
              <a:buSzPts val="2400"/>
              <a:buChar char="•"/>
            </a:pPr>
            <a:r>
              <a:rPr lang="en-ZA" sz="2400"/>
              <a:t>You have high-dimensional data (e.g., 50–300D+)</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lnSpc>
                <a:spcPct val="90000"/>
              </a:lnSpc>
              <a:spcBef>
                <a:spcPts val="0"/>
              </a:spcBef>
              <a:spcAft>
                <a:spcPts val="0"/>
              </a:spcAft>
              <a:buNone/>
            </a:pPr>
            <a:r>
              <a:t/>
            </a:r>
            <a:endParaRPr sz="2400"/>
          </a:p>
        </p:txBody>
      </p:sp>
      <p:pic>
        <p:nvPicPr>
          <p:cNvPr id="561" name="Google Shape;561;g3f2b97712c9_1_127"/>
          <p:cNvPicPr preferRelativeResize="0"/>
          <p:nvPr/>
        </p:nvPicPr>
        <p:blipFill rotWithShape="1">
          <a:blip r:embed="rId4">
            <a:alphaModFix/>
          </a:blip>
          <a:srcRect b="0" l="0" r="0" t="0"/>
          <a:stretch/>
        </p:blipFill>
        <p:spPr>
          <a:xfrm>
            <a:off x="629723" y="991034"/>
            <a:ext cx="1294526" cy="59058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g3f2b97712c9_0_263"/>
          <p:cNvPicPr preferRelativeResize="0"/>
          <p:nvPr/>
        </p:nvPicPr>
        <p:blipFill rotWithShape="1">
          <a:blip r:embed="rId3">
            <a:alphaModFix/>
          </a:blip>
          <a:srcRect b="0" l="0" r="0" t="0"/>
          <a:stretch/>
        </p:blipFill>
        <p:spPr>
          <a:xfrm>
            <a:off x="0" y="0"/>
            <a:ext cx="12192001" cy="6875281"/>
          </a:xfrm>
          <a:prstGeom prst="rect">
            <a:avLst/>
          </a:prstGeom>
          <a:noFill/>
          <a:ln>
            <a:noFill/>
          </a:ln>
        </p:spPr>
      </p:pic>
      <p:sp>
        <p:nvSpPr>
          <p:cNvPr id="567" name="Google Shape;567;g3f2b97712c9_0_263"/>
          <p:cNvSpPr txBox="1"/>
          <p:nvPr>
            <p:ph type="title"/>
          </p:nvPr>
        </p:nvSpPr>
        <p:spPr>
          <a:xfrm>
            <a:off x="3064075" y="780024"/>
            <a:ext cx="8739300" cy="13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ZA"/>
              <a:t>Association Rule Learning</a:t>
            </a:r>
            <a:endParaRPr/>
          </a:p>
        </p:txBody>
      </p:sp>
      <p:sp>
        <p:nvSpPr>
          <p:cNvPr id="568" name="Google Shape;568;g3f2b97712c9_0_263"/>
          <p:cNvSpPr txBox="1"/>
          <p:nvPr>
            <p:ph idx="1" type="body"/>
          </p:nvPr>
        </p:nvSpPr>
        <p:spPr>
          <a:xfrm>
            <a:off x="2133075" y="2092826"/>
            <a:ext cx="9787500" cy="43746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spcBef>
                <a:spcPts val="0"/>
              </a:spcBef>
              <a:spcAft>
                <a:spcPts val="0"/>
              </a:spcAft>
              <a:buNone/>
            </a:pPr>
            <a:r>
              <a:rPr lang="en-ZA" sz="7200"/>
              <a:t>An unsupervised machine learning </a:t>
            </a:r>
            <a:r>
              <a:rPr lang="en-ZA" sz="7200"/>
              <a:t>technique</a:t>
            </a:r>
            <a:r>
              <a:rPr lang="en-ZA" sz="7200"/>
              <a:t> used to discover interesting relationships or associations between variables in large datasets.Can be used to answer a question like: I</a:t>
            </a:r>
            <a:r>
              <a:rPr i="1" lang="en-ZA" sz="7200"/>
              <a:t>f a customer buys X, how likely are they to also buy Y?</a:t>
            </a:r>
            <a:endParaRPr i="1" sz="7200"/>
          </a:p>
          <a:p>
            <a:pPr indent="0" lvl="0" marL="0" rtl="0" algn="l">
              <a:spcBef>
                <a:spcPts val="0"/>
              </a:spcBef>
              <a:spcAft>
                <a:spcPts val="0"/>
              </a:spcAft>
              <a:buNone/>
            </a:pPr>
            <a:r>
              <a:rPr lang="en-ZA" sz="7200"/>
              <a:t>Generate rules like:</a:t>
            </a:r>
            <a:endParaRPr sz="7200"/>
          </a:p>
          <a:p>
            <a:pPr indent="0" lvl="0" marL="0" rtl="0" algn="l">
              <a:spcBef>
                <a:spcPts val="0"/>
              </a:spcBef>
              <a:spcAft>
                <a:spcPts val="0"/>
              </a:spcAft>
              <a:buNone/>
            </a:pPr>
            <a:r>
              <a:t/>
            </a:r>
            <a:endParaRPr i="1" sz="3750"/>
          </a:p>
          <a:p>
            <a:pPr indent="0" lvl="0" marL="0" rtl="0" algn="l">
              <a:spcBef>
                <a:spcPts val="0"/>
              </a:spcBef>
              <a:spcAft>
                <a:spcPts val="0"/>
              </a:spcAft>
              <a:buNone/>
            </a:pPr>
            <a:r>
              <a:t/>
            </a:r>
            <a:endParaRPr i="1" sz="3750"/>
          </a:p>
          <a:p>
            <a:pPr indent="0" lvl="0" marL="0" rtl="0" algn="l">
              <a:spcBef>
                <a:spcPts val="0"/>
              </a:spcBef>
              <a:spcAft>
                <a:spcPts val="0"/>
              </a:spcAft>
              <a:buClr>
                <a:schemeClr val="dk1"/>
              </a:buClr>
              <a:buSzPts val="275"/>
              <a:buFont typeface="Arial"/>
              <a:buNone/>
            </a:pPr>
            <a:r>
              <a:rPr b="1" lang="en-ZA" sz="7200"/>
              <a:t>Example:</a:t>
            </a:r>
            <a:endParaRPr b="1" sz="7200"/>
          </a:p>
          <a:p>
            <a:pPr indent="0" lvl="0" marL="0" rtl="0" algn="l">
              <a:spcBef>
                <a:spcPts val="0"/>
              </a:spcBef>
              <a:spcAft>
                <a:spcPts val="0"/>
              </a:spcAft>
              <a:buClr>
                <a:schemeClr val="dk1"/>
              </a:buClr>
              <a:buSzPts val="275"/>
              <a:buFont typeface="Arial"/>
              <a:buNone/>
            </a:pPr>
            <a:r>
              <a:rPr lang="en-ZA" sz="7200"/>
              <a:t>Let's look at a supermarket example:</a:t>
            </a:r>
            <a:endParaRPr sz="7200"/>
          </a:p>
          <a:p>
            <a:pPr indent="0" lvl="0" marL="0" rtl="0" algn="l">
              <a:spcBef>
                <a:spcPts val="0"/>
              </a:spcBef>
              <a:spcAft>
                <a:spcPts val="0"/>
              </a:spcAft>
              <a:buClr>
                <a:schemeClr val="dk1"/>
              </a:buClr>
              <a:buSzPct val="45833"/>
              <a:buFont typeface="Arial"/>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4572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914400" rtl="0" algn="l">
              <a:spcBef>
                <a:spcPts val="0"/>
              </a:spcBef>
              <a:spcAft>
                <a:spcPts val="0"/>
              </a:spcAft>
              <a:buNone/>
            </a:pPr>
            <a:r>
              <a:t/>
            </a:r>
            <a:endParaRPr sz="2400"/>
          </a:p>
          <a:p>
            <a:pPr indent="0" lvl="0" marL="0" rtl="0" algn="l">
              <a:spcBef>
                <a:spcPts val="0"/>
              </a:spcBef>
              <a:spcAft>
                <a:spcPts val="0"/>
              </a:spcAft>
              <a:buNone/>
            </a:pPr>
            <a:r>
              <a:t/>
            </a:r>
            <a:endParaRPr/>
          </a:p>
          <a:p>
            <a:pPr indent="0" lvl="0" marL="0" rtl="0" algn="l">
              <a:spcBef>
                <a:spcPts val="0"/>
              </a:spcBef>
              <a:spcAft>
                <a:spcPts val="0"/>
              </a:spcAft>
              <a:buNone/>
            </a:pPr>
            <a:r>
              <a:t/>
            </a:r>
            <a:endParaRPr sz="4500"/>
          </a:p>
          <a:p>
            <a:pPr indent="0" lvl="0" marL="0" rtl="0" algn="l">
              <a:spcBef>
                <a:spcPts val="0"/>
              </a:spcBef>
              <a:spcAft>
                <a:spcPts val="0"/>
              </a:spcAft>
              <a:buNone/>
            </a:pPr>
            <a:r>
              <a:t/>
            </a:r>
            <a:endParaRPr sz="4500"/>
          </a:p>
          <a:p>
            <a:pPr indent="0" lvl="0" marL="0" rtl="0" algn="l">
              <a:spcBef>
                <a:spcPts val="0"/>
              </a:spcBef>
              <a:spcAft>
                <a:spcPts val="0"/>
              </a:spcAft>
              <a:buNone/>
            </a:pPr>
            <a:r>
              <a:t/>
            </a:r>
            <a:endParaRPr sz="4500"/>
          </a:p>
          <a:p>
            <a:pPr indent="0" lvl="0" marL="0" rtl="0" algn="l">
              <a:spcBef>
                <a:spcPts val="0"/>
              </a:spcBef>
              <a:spcAft>
                <a:spcPts val="0"/>
              </a:spcAft>
              <a:buNone/>
            </a:pPr>
            <a:r>
              <a:t/>
            </a:r>
            <a:endParaRPr sz="4500"/>
          </a:p>
          <a:p>
            <a:pPr indent="0" lvl="0" marL="0" rtl="0" algn="l">
              <a:spcBef>
                <a:spcPts val="0"/>
              </a:spcBef>
              <a:spcAft>
                <a:spcPts val="0"/>
              </a:spcAft>
              <a:buClr>
                <a:schemeClr val="dk1"/>
              </a:buClr>
              <a:buSzPts val="275"/>
              <a:buFont typeface="Arial"/>
              <a:buNone/>
            </a:pPr>
            <a:r>
              <a:rPr lang="en-ZA" sz="7200"/>
              <a:t>Association rule learning might discover the following relationship:</a:t>
            </a:r>
            <a:endParaRPr sz="7200"/>
          </a:p>
          <a:p>
            <a:pPr indent="0" lvl="0" marL="0" rtl="0" algn="l">
              <a:spcBef>
                <a:spcPts val="0"/>
              </a:spcBef>
              <a:spcAft>
                <a:spcPts val="0"/>
              </a:spcAft>
              <a:buNone/>
            </a:pPr>
            <a:r>
              <a:rPr i="1" lang="en-ZA" sz="7200"/>
              <a:t>i</a:t>
            </a:r>
            <a:r>
              <a:rPr i="1" lang="en-ZA" sz="7200"/>
              <a:t>f someone buys bread, they are likely to buy milk. </a:t>
            </a:r>
            <a:r>
              <a:rPr lang="en-ZA" sz="7200"/>
              <a:t>Most common algorithms include the Apriori</a:t>
            </a:r>
            <a:endParaRPr sz="7200"/>
          </a:p>
          <a:p>
            <a:pPr indent="0" lvl="0" marL="0" rtl="0" algn="l">
              <a:spcBef>
                <a:spcPts val="0"/>
              </a:spcBef>
              <a:spcAft>
                <a:spcPts val="0"/>
              </a:spcAft>
              <a:buNone/>
            </a:pPr>
            <a:r>
              <a:rPr lang="en-ZA" sz="7200"/>
              <a:t>algorithm, Eclat algorithm, and FP-Growth</a:t>
            </a:r>
            <a:endParaRPr sz="7200"/>
          </a:p>
          <a:p>
            <a:pPr indent="0" lvl="0" marL="0" rtl="0" algn="l">
              <a:spcBef>
                <a:spcPts val="0"/>
              </a:spcBef>
              <a:spcAft>
                <a:spcPts val="0"/>
              </a:spcAft>
              <a:buNone/>
            </a:pPr>
            <a:r>
              <a:rPr lang="en-ZA" sz="7200"/>
              <a:t>Algorithm. </a:t>
            </a:r>
            <a:r>
              <a:rPr lang="en-ZA" sz="7200" u="sng">
                <a:solidFill>
                  <a:schemeClr val="hlink"/>
                </a:solidFill>
                <a:hlinkClick r:id="rId4"/>
              </a:rPr>
              <a:t>Python Code </a:t>
            </a:r>
            <a:r>
              <a:rPr lang="en-ZA" sz="7200" u="sng">
                <a:solidFill>
                  <a:schemeClr val="hlink"/>
                </a:solidFill>
                <a:hlinkClick r:id="rId5"/>
              </a:rPr>
              <a:t>implementation</a:t>
            </a:r>
            <a:endParaRPr sz="7200"/>
          </a:p>
          <a:p>
            <a:pPr indent="0" lvl="0" marL="0" rtl="0" algn="l">
              <a:spcBef>
                <a:spcPts val="0"/>
              </a:spcBef>
              <a:spcAft>
                <a:spcPts val="0"/>
              </a:spcAft>
              <a:buNone/>
            </a:pPr>
            <a:r>
              <a:t/>
            </a:r>
            <a:endParaRPr sz="7200"/>
          </a:p>
          <a:p>
            <a:pPr indent="0" lvl="0" marL="0" rtl="0" algn="l">
              <a:spcBef>
                <a:spcPts val="0"/>
              </a:spcBef>
              <a:spcAft>
                <a:spcPts val="0"/>
              </a:spcAft>
              <a:buNone/>
            </a:pPr>
            <a:r>
              <a:rPr lang="en-ZA" sz="7200"/>
              <a:t>When to use Association Rule Learning? When you want to find relationships between items (co-occurrence patterns).</a:t>
            </a:r>
            <a:endParaRPr sz="7200"/>
          </a:p>
          <a:p>
            <a:pPr indent="0" lvl="0" marL="0" rtl="0" algn="l">
              <a:spcBef>
                <a:spcPts val="0"/>
              </a:spcBef>
              <a:spcAft>
                <a:spcPts val="0"/>
              </a:spcAft>
              <a:buClr>
                <a:schemeClr val="dk1"/>
              </a:buClr>
              <a:buSzPct val="39286"/>
              <a:buFont typeface="Arial"/>
              <a:buNone/>
            </a:pPr>
            <a:r>
              <a:t/>
            </a:r>
            <a:endParaRPr/>
          </a:p>
          <a:p>
            <a:pPr indent="0" lvl="0" marL="914400" rtl="0" algn="l">
              <a:spcBef>
                <a:spcPts val="0"/>
              </a:spcBef>
              <a:spcAft>
                <a:spcPts val="0"/>
              </a:spcAft>
              <a:buNone/>
            </a:pPr>
            <a:r>
              <a:t/>
            </a:r>
            <a:endParaRPr/>
          </a:p>
          <a:p>
            <a:pPr indent="0" lvl="0" marL="914400" rtl="0" algn="l">
              <a:lnSpc>
                <a:spcPct val="90000"/>
              </a:lnSpc>
              <a:spcBef>
                <a:spcPts val="0"/>
              </a:spcBef>
              <a:spcAft>
                <a:spcPts val="0"/>
              </a:spcAft>
              <a:buNone/>
            </a:pPr>
            <a:r>
              <a:t/>
            </a:r>
            <a:endParaRPr/>
          </a:p>
        </p:txBody>
      </p:sp>
      <p:pic>
        <p:nvPicPr>
          <p:cNvPr id="569" name="Google Shape;569;g3f2b97712c9_0_263"/>
          <p:cNvPicPr preferRelativeResize="0"/>
          <p:nvPr/>
        </p:nvPicPr>
        <p:blipFill rotWithShape="1">
          <a:blip r:embed="rId6">
            <a:alphaModFix/>
          </a:blip>
          <a:srcRect b="0" l="0" r="0" t="0"/>
          <a:stretch/>
        </p:blipFill>
        <p:spPr>
          <a:xfrm>
            <a:off x="629723" y="991034"/>
            <a:ext cx="1294526" cy="590587"/>
          </a:xfrm>
          <a:prstGeom prst="rect">
            <a:avLst/>
          </a:prstGeom>
          <a:noFill/>
          <a:ln>
            <a:noFill/>
          </a:ln>
        </p:spPr>
      </p:pic>
      <p:pic>
        <p:nvPicPr>
          <p:cNvPr id="570" name="Google Shape;570;g3f2b97712c9_0_263"/>
          <p:cNvPicPr preferRelativeResize="0"/>
          <p:nvPr/>
        </p:nvPicPr>
        <p:blipFill>
          <a:blip r:embed="rId7">
            <a:alphaModFix/>
          </a:blip>
          <a:stretch>
            <a:fillRect/>
          </a:stretch>
        </p:blipFill>
        <p:spPr>
          <a:xfrm>
            <a:off x="4396350" y="2710412"/>
            <a:ext cx="511825" cy="224825"/>
          </a:xfrm>
          <a:prstGeom prst="rect">
            <a:avLst/>
          </a:prstGeom>
          <a:noFill/>
          <a:ln>
            <a:noFill/>
          </a:ln>
        </p:spPr>
      </p:pic>
      <p:pic>
        <p:nvPicPr>
          <p:cNvPr id="571" name="Google Shape;571;g3f2b97712c9_0_263"/>
          <p:cNvPicPr preferRelativeResize="0"/>
          <p:nvPr/>
        </p:nvPicPr>
        <p:blipFill>
          <a:blip r:embed="rId8">
            <a:alphaModFix/>
          </a:blip>
          <a:stretch>
            <a:fillRect/>
          </a:stretch>
        </p:blipFill>
        <p:spPr>
          <a:xfrm>
            <a:off x="4229925" y="3706063"/>
            <a:ext cx="3091025" cy="8657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pic>
        <p:nvPicPr>
          <p:cNvPr id="576" name="Google Shape;576;p3"/>
          <p:cNvPicPr preferRelativeResize="0"/>
          <p:nvPr/>
        </p:nvPicPr>
        <p:blipFill rotWithShape="1">
          <a:blip r:embed="rId3">
            <a:alphaModFix/>
          </a:blip>
          <a:srcRect b="0" l="0" r="0" t="0"/>
          <a:stretch/>
        </p:blipFill>
        <p:spPr>
          <a:xfrm>
            <a:off x="0" y="-1"/>
            <a:ext cx="12191999" cy="6875279"/>
          </a:xfrm>
          <a:prstGeom prst="rect">
            <a:avLst/>
          </a:prstGeom>
          <a:noFill/>
          <a:ln>
            <a:noFill/>
          </a:ln>
        </p:spPr>
      </p:pic>
      <p:sp>
        <p:nvSpPr>
          <p:cNvPr id="577" name="Google Shape;577;p3"/>
          <p:cNvSpPr txBox="1"/>
          <p:nvPr>
            <p:ph type="title"/>
          </p:nvPr>
        </p:nvSpPr>
        <p:spPr>
          <a:xfrm>
            <a:off x="7121013" y="2370905"/>
            <a:ext cx="507098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Montserrat"/>
              <a:buNone/>
            </a:pPr>
            <a:r>
              <a:rPr b="1" lang="en-ZA">
                <a:solidFill>
                  <a:schemeClr val="lt1"/>
                </a:solidFill>
                <a:latin typeface="Montserrat"/>
                <a:ea typeface="Montserrat"/>
                <a:cs typeface="Montserrat"/>
                <a:sym typeface="Montserrat"/>
              </a:rPr>
              <a:t>THANK YOU</a:t>
            </a:r>
            <a:endParaRPr b="1">
              <a:solidFill>
                <a:schemeClr val="lt1"/>
              </a:solidFill>
              <a:latin typeface="Montserrat"/>
              <a:ea typeface="Montserrat"/>
              <a:cs typeface="Montserrat"/>
              <a:sym typeface="Montserrat"/>
            </a:endParaRPr>
          </a:p>
        </p:txBody>
      </p:sp>
      <p:pic>
        <p:nvPicPr>
          <p:cNvPr id="578" name="Google Shape;578;p3"/>
          <p:cNvPicPr preferRelativeResize="0"/>
          <p:nvPr/>
        </p:nvPicPr>
        <p:blipFill rotWithShape="1">
          <a:blip r:embed="rId4">
            <a:alphaModFix/>
          </a:blip>
          <a:srcRect b="0" l="0" r="0" t="0"/>
          <a:stretch/>
        </p:blipFill>
        <p:spPr>
          <a:xfrm>
            <a:off x="1660675" y="3242430"/>
            <a:ext cx="3211098" cy="146496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tion 1">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2026-02-11T16:08:42Z</dcterms:created>
  <dc:creator>Nox Moyake</dc:creator>
</cp:coreProperties>
</file>